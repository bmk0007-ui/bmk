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eaa17809-a5c8-f47c-5119-78a4802d507e}">
          <p14:sldIdLst>
            <p14:sldId id="256"/>
          </p14:sldIdLst>
        </p14:section>
        <p14:section name="개요" id="{abb7f637-9dff-d4f6-52ee-28440266e690}">
          <p14:sldIdLst>
            <p14:sldId id="257"/>
            <p14:sldId id="258"/>
          </p14:sldIdLst>
        </p14:section>
        <p14:section name="영역별 담당부서" id="{9d543eba-5635-54ec-2136-37fb77e21b9f}">
          <p14:sldIdLst>
            <p14:sldId id="259"/>
            <p14:sldId id="260"/>
            <p14:sldId id="261"/>
            <p14:sldId id="262"/>
            <p14:sldId id="263"/>
          </p14:sldIdLst>
        </p14:section>
        <p14:section name="정량지표" id="{36ef54c6-213d-5f95-9e5f-19d350b5558d}">
          <p14:sldIdLst>
            <p14:sldId id="264"/>
            <p14:sldId id="265"/>
            <p14:sldId id="266"/>
          </p14:sldIdLst>
        </p14:section>
        <p14:section name="부서별 안내" id="{2ef798c3-da03-d18a-d853-80777ce55f1a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</p14:sldIdLst>
        </p14:section>
        <p14:section name="문의" id="{3cd46d18-3723-f19d-fd0a-ea6c701ba30a}">
          <p14:sldIdLst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담당 준거 수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0404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Sheet1!$A$2:$A$37</c:f>
              <c:multiLvlStrCache>
                <c:ptCount val="36"/>
                <c:lvl>
                  <c:pt idx="0">
                    <c:v>교무처</c:v>
                  </c:pt>
                  <c:pt idx="1">
                    <c:v>기획처</c:v>
                  </c:pt>
                  <c:pt idx="2">
                    <c:v>인사관리실</c:v>
                  </c:pt>
                  <c:pt idx="3">
                    <c:v>학생처</c:v>
                  </c:pt>
                  <c:pt idx="4">
                    <c:v>총무처</c:v>
                  </c:pt>
                  <c:pt idx="5">
                    <c:v>교수학습개발원</c:v>
                  </c:pt>
                  <c:pt idx="6">
                    <c:v>취업진로지원처</c:v>
                  </c:pt>
                  <c:pt idx="7">
                    <c:v>커리큘럼인증센터</c:v>
                  </c:pt>
                  <c:pt idx="8">
                    <c:v>교양대학</c:v>
                  </c:pt>
                  <c:pt idx="9">
                    <c:v>산학협력단</c:v>
                  </c:pt>
                  <c:pt idx="10">
                    <c:v>국제교류처</c:v>
                  </c:pt>
                  <c:pt idx="11">
                    <c:v>평생교육원</c:v>
                  </c:pt>
                  <c:pt idx="12">
                    <c:v>학생생활상담센터</c:v>
                  </c:pt>
                  <c:pt idx="13">
                    <c:v>백석생활관</c:v>
                  </c:pt>
                  <c:pt idx="14">
                    <c:v>법인</c:v>
                  </c:pt>
                  <c:pt idx="15">
                    <c:v>대학혁신IR센터</c:v>
                  </c:pt>
                  <c:pt idx="16">
                    <c:v>창업지원단</c:v>
                  </c:pt>
                  <c:pt idx="17">
                    <c:v>도서관</c:v>
                  </c:pt>
                  <c:pt idx="18">
                    <c:v>시설관리처</c:v>
                  </c:pt>
                  <c:pt idx="19">
                    <c:v>인권센터</c:v>
                  </c:pt>
                  <c:pt idx="20">
                    <c:v>감사실</c:v>
                  </c:pt>
                  <c:pt idx="21">
                    <c:v>재무처</c:v>
                  </c:pt>
                  <c:pt idx="22">
                    <c:v>대외협력처</c:v>
                  </c:pt>
                  <c:pt idx="23">
                    <c:v>학생역량관리센터</c:v>
                  </c:pt>
                  <c:pt idx="24">
                    <c:v>사회봉사센터</c:v>
                  </c:pt>
                  <c:pt idx="25">
                    <c:v>백석인성혁신사업단</c:v>
                  </c:pt>
                  <c:pt idx="26">
                    <c:v>현대시100년관</c:v>
                  </c:pt>
                  <c:pt idx="27">
                    <c:v>기독교박물관</c:v>
                  </c:pt>
                  <c:pt idx="28">
                    <c:v>입학관리처</c:v>
                  </c:pt>
                  <c:pt idx="29">
                    <c:v>지역혁신추진단</c:v>
                  </c:pt>
                  <c:pt idx="30">
                    <c:v>원격교육지원센터</c:v>
                  </c:pt>
                  <c:pt idx="31">
                    <c:v>백석정신아카데미</c:v>
                  </c:pt>
                  <c:pt idx="32">
                    <c:v>장애학생지원센터</c:v>
                  </c:pt>
                  <c:pt idx="33">
                    <c:v>인성개발원</c:v>
                  </c:pt>
                  <c:pt idx="34">
                    <c:v>글로벌인재육성처</c:v>
                  </c:pt>
                  <c:pt idx="35">
                    <c:v>대학원교학처</c:v>
                  </c:pt>
                </c:lvl>
              </c:multiLvlStrCache>
            </c:multiLvl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11</c:v>
                </c:pt>
                <c:pt idx="1">
                  <c:v>7</c:v>
                </c:pt>
                <c:pt idx="2">
                  <c:v>7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40404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3600000"/>
          <a:lstStyle/>
          <a:p>
            <a:pPr>
              <a:defRPr sz="9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1F2A44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4주기 대학기관평가인증 | 평가준거별 담당부서 안내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DD7EE"/>
                </a:solidFill>
              </a:rPr>
              <a:t>4주기 대학기관평가인증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평가준거별 담당부서 안내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우리 부서가 맡은 평가준거와 보고서 작성 항목을 한눈에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66344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6634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1. 대학경영 및 사회적 책무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74720" y="466344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46634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2. 교육과정 및 교수·학습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466344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46634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3. 교원 및 직원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961120" y="466344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5B4A8A"/>
          </a:solidFill>
          <a:ln w="12700">
            <a:solidFill>
              <a:srgbClr val="5B4A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052560" y="46634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4. 학생지원 및 시설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6035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DD7EE"/>
                </a:solidFill>
              </a:rPr>
              <a:t>출처: [붙임 4] 평가 영역별 평가 준거 및 관련 부서 · [붙임 5] 평가 준거별 관련 부서(편람 내 보고서 주요 내용 기준)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한눈에 보기: 4개 영역 · 24개 평가준거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A44"/>
                </a:solidFill>
              </a:rPr>
              <a:t>24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</a:rPr>
              <a:t>평가준거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0175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A44"/>
                </a:solidFill>
              </a:rPr>
              <a:t>36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886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</a:rPr>
              <a:t>관련 부서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61772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4709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A44"/>
                </a:solidFill>
              </a:rPr>
              <a:t>21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5577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</a:rPr>
              <a:t>정량지표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00400" y="1234440"/>
            <a:ext cx="2057400" cy="73152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73552" y="1234440"/>
            <a:ext cx="1911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 대학경영 및 사회적 책무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0" y="2103120"/>
            <a:ext cx="2057400" cy="603504"/>
          </a:xfrm>
          <a:prstGeom prst="roundRect">
            <a:avLst>
              <a:gd name="adj" fmla="val 9091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73552" y="2103120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1.1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교육목표 및 발전계획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10312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2개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2779776"/>
            <a:ext cx="2057400" cy="603504"/>
          </a:xfrm>
          <a:prstGeom prst="roundRect">
            <a:avLst>
              <a:gd name="adj" fmla="val 9091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73552" y="2779776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1.2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거버넌스와 감사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77977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6개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3456432"/>
            <a:ext cx="2057400" cy="603504"/>
          </a:xfrm>
          <a:prstGeom prst="roundRect">
            <a:avLst>
              <a:gd name="adj" fmla="val 9091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73552" y="3456432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1.3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재정 확보 및 집행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456432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7개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4133088"/>
            <a:ext cx="2057400" cy="603504"/>
          </a:xfrm>
          <a:prstGeom prst="roundRect">
            <a:avLst>
              <a:gd name="adj" fmla="val 9091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73552" y="4133088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1.4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체계 구축 및 운영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413308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2개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4809744"/>
            <a:ext cx="2057400" cy="603504"/>
          </a:xfrm>
          <a:prstGeom prst="roundRect">
            <a:avLst>
              <a:gd name="adj" fmla="val 9091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273552" y="4809744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1.5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교육성과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4809744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5개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5486400"/>
            <a:ext cx="2057400" cy="603504"/>
          </a:xfrm>
          <a:prstGeom prst="roundRect">
            <a:avLst>
              <a:gd name="adj" fmla="val 9091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273552" y="5486400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1.6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사회공헌 및 지역사회 연계·협력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754880" y="548640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13개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76672" y="1234440"/>
            <a:ext cx="2057400" cy="731520"/>
          </a:xfrm>
          <a:prstGeom prst="roundRect">
            <a:avLst>
              <a:gd name="adj" fmla="val 10000"/>
            </a:avLst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49824" y="1234440"/>
            <a:ext cx="1911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 교육과정 및 교수·학습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376672" y="2103120"/>
            <a:ext cx="2057400" cy="603504"/>
          </a:xfrm>
          <a:prstGeom prst="roundRect">
            <a:avLst>
              <a:gd name="adj" fmla="val 9091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49824" y="2103120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2.1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교육과정 체계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931152" y="210312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3개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376672" y="2779776"/>
            <a:ext cx="2057400" cy="603504"/>
          </a:xfrm>
          <a:prstGeom prst="roundRect">
            <a:avLst>
              <a:gd name="adj" fmla="val 9091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49824" y="2779776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2.2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교양 교육과정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931152" y="277977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1개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376672" y="3456432"/>
            <a:ext cx="2057400" cy="603504"/>
          </a:xfrm>
          <a:prstGeom prst="roundRect">
            <a:avLst>
              <a:gd name="adj" fmla="val 9091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49824" y="3456432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2.3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전공 교육과정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931152" y="3456432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2개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376672" y="4133088"/>
            <a:ext cx="2057400" cy="603504"/>
          </a:xfrm>
          <a:prstGeom prst="roundRect">
            <a:avLst>
              <a:gd name="adj" fmla="val 9091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449824" y="4133088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2.4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학사관리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931152" y="413308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5개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376672" y="4809744"/>
            <a:ext cx="2057400" cy="603504"/>
          </a:xfrm>
          <a:prstGeom prst="roundRect">
            <a:avLst>
              <a:gd name="adj" fmla="val 9091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449824" y="4809744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2.5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수업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6931152" y="4809744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4개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376672" y="5486400"/>
            <a:ext cx="2057400" cy="603504"/>
          </a:xfrm>
          <a:prstGeom prst="roundRect">
            <a:avLst>
              <a:gd name="adj" fmla="val 9091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449824" y="5486400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2.6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교수‧학습 지원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6931152" y="548640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1개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552944" y="1234440"/>
            <a:ext cx="2057400" cy="731520"/>
          </a:xfrm>
          <a:prstGeom prst="roundRect">
            <a:avLst>
              <a:gd name="adj" fmla="val 10000"/>
            </a:avLst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626096" y="1234440"/>
            <a:ext cx="1911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 교원 및 직원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7552944" y="2103120"/>
            <a:ext cx="2057400" cy="603504"/>
          </a:xfrm>
          <a:prstGeom prst="roundRect">
            <a:avLst>
              <a:gd name="adj" fmla="val 9091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626096" y="2103120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3.1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교원 확보 및 구성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9107424" y="210312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2개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552944" y="2779776"/>
            <a:ext cx="2057400" cy="603504"/>
          </a:xfrm>
          <a:prstGeom prst="roundRect">
            <a:avLst>
              <a:gd name="adj" fmla="val 9091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626096" y="2779776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3.2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교원 인사 및 업적평가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9107424" y="277977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2개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552944" y="3456432"/>
            <a:ext cx="2057400" cy="603504"/>
          </a:xfrm>
          <a:prstGeom prst="roundRect">
            <a:avLst>
              <a:gd name="adj" fmla="val 9091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626096" y="3456432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3.3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교원 처우 및 복지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9107424" y="3456432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5개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552944" y="4133088"/>
            <a:ext cx="2057400" cy="603504"/>
          </a:xfrm>
          <a:prstGeom prst="roundRect">
            <a:avLst>
              <a:gd name="adj" fmla="val 9091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626096" y="4133088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3.4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교원의 연구활동 및 성과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9107424" y="413308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8개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552944" y="4809744"/>
            <a:ext cx="2057400" cy="603504"/>
          </a:xfrm>
          <a:prstGeom prst="roundRect">
            <a:avLst>
              <a:gd name="adj" fmla="val 9091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626096" y="4809744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3.5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직원 확보 및 인사</a:t>
            </a:r>
            <a:endParaRPr lang="en-US" sz="1100" dirty="0"/>
          </a:p>
        </p:txBody>
      </p:sp>
      <p:sp>
        <p:nvSpPr>
          <p:cNvPr id="68" name="Text 66"/>
          <p:cNvSpPr txBox="1"/>
          <p:nvPr/>
        </p:nvSpPr>
        <p:spPr>
          <a:xfrm>
            <a:off x="9107424" y="4809744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1개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7552944" y="5486400"/>
            <a:ext cx="2057400" cy="603504"/>
          </a:xfrm>
          <a:prstGeom prst="roundRect">
            <a:avLst>
              <a:gd name="adj" fmla="val 9091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7626096" y="5486400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3.6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직원 복지 및 업무 역량 개발</a:t>
            </a:r>
            <a:endParaRPr lang="en-US" sz="1100" dirty="0"/>
          </a:p>
        </p:txBody>
      </p:sp>
      <p:sp>
        <p:nvSpPr>
          <p:cNvPr id="71" name="Text 69"/>
          <p:cNvSpPr txBox="1"/>
          <p:nvPr/>
        </p:nvSpPr>
        <p:spPr>
          <a:xfrm>
            <a:off x="9107424" y="548640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4개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9729216" y="1234440"/>
            <a:ext cx="2057400" cy="731520"/>
          </a:xfrm>
          <a:prstGeom prst="roundRect">
            <a:avLst>
              <a:gd name="adj" fmla="val 10000"/>
            </a:avLst>
          </a:prstGeom>
          <a:solidFill>
            <a:srgbClr val="5B4A8A"/>
          </a:solidFill>
          <a:ln w="12700">
            <a:solidFill>
              <a:srgbClr val="5B4A8A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9802368" y="1234440"/>
            <a:ext cx="1911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4. 학생지원 및 시설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9729216" y="2103120"/>
            <a:ext cx="2057400" cy="603504"/>
          </a:xfrm>
          <a:prstGeom prst="roundRect">
            <a:avLst>
              <a:gd name="adj" fmla="val 9091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802368" y="2103120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4.1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장학 제도 및 학생자치활동 지원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11283696" y="210312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4개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9729216" y="2779776"/>
            <a:ext cx="2057400" cy="603504"/>
          </a:xfrm>
          <a:prstGeom prst="roundRect">
            <a:avLst>
              <a:gd name="adj" fmla="val 9091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9802368" y="2779776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4.2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학생 심리상담 및 권익 보호</a:t>
            </a:r>
            <a:endParaRPr lang="en-US" sz="1100" dirty="0"/>
          </a:p>
        </p:txBody>
      </p:sp>
      <p:sp>
        <p:nvSpPr>
          <p:cNvPr id="79" name="Text 77"/>
          <p:cNvSpPr txBox="1"/>
          <p:nvPr/>
        </p:nvSpPr>
        <p:spPr>
          <a:xfrm>
            <a:off x="11283696" y="277977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10개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9729216" y="3456432"/>
            <a:ext cx="2057400" cy="603504"/>
          </a:xfrm>
          <a:prstGeom prst="roundRect">
            <a:avLst>
              <a:gd name="adj" fmla="val 9091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9802368" y="3456432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4.3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진로 및 취·창업 지원</a:t>
            </a:r>
            <a:endParaRPr lang="en-US" sz="1100" dirty="0"/>
          </a:p>
        </p:txBody>
      </p:sp>
      <p:sp>
        <p:nvSpPr>
          <p:cNvPr id="82" name="Text 80"/>
          <p:cNvSpPr txBox="1"/>
          <p:nvPr/>
        </p:nvSpPr>
        <p:spPr>
          <a:xfrm>
            <a:off x="11283696" y="3456432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4개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9729216" y="4133088"/>
            <a:ext cx="2057400" cy="603504"/>
          </a:xfrm>
          <a:prstGeom prst="roundRect">
            <a:avLst>
              <a:gd name="adj" fmla="val 9091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9802368" y="4133088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4.4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교육시설</a:t>
            </a:r>
            <a:endParaRPr lang="en-US" sz="1100" dirty="0"/>
          </a:p>
        </p:txBody>
      </p:sp>
      <p:sp>
        <p:nvSpPr>
          <p:cNvPr id="85" name="Text 83"/>
          <p:cNvSpPr txBox="1"/>
          <p:nvPr/>
        </p:nvSpPr>
        <p:spPr>
          <a:xfrm>
            <a:off x="11283696" y="413308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4개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9729216" y="4809744"/>
            <a:ext cx="2057400" cy="603504"/>
          </a:xfrm>
          <a:prstGeom prst="roundRect">
            <a:avLst>
              <a:gd name="adj" fmla="val 9091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9802368" y="4809744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4.5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기숙사 및 학생 복지시설</a:t>
            </a:r>
            <a:endParaRPr lang="en-US" sz="1100" dirty="0"/>
          </a:p>
        </p:txBody>
      </p:sp>
      <p:sp>
        <p:nvSpPr>
          <p:cNvPr id="88" name="Text 86"/>
          <p:cNvSpPr txBox="1"/>
          <p:nvPr/>
        </p:nvSpPr>
        <p:spPr>
          <a:xfrm>
            <a:off x="11283696" y="4809744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2개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9729216" y="5486400"/>
            <a:ext cx="2057400" cy="603504"/>
          </a:xfrm>
          <a:prstGeom prst="roundRect">
            <a:avLst>
              <a:gd name="adj" fmla="val 9091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9802368" y="5486400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4.6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도서관</a:t>
            </a:r>
            <a:endParaRPr lang="en-US" sz="1100" dirty="0"/>
          </a:p>
        </p:txBody>
      </p:sp>
      <p:sp>
        <p:nvSpPr>
          <p:cNvPr id="91" name="Text 89"/>
          <p:cNvSpPr txBox="1"/>
          <p:nvPr/>
        </p:nvSpPr>
        <p:spPr>
          <a:xfrm>
            <a:off x="11283696" y="548640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1개</a:t>
            </a:r>
            <a:endParaRPr lang="en-US" sz="1100" dirty="0"/>
          </a:p>
        </p:txBody>
      </p:sp>
      <p:sp>
        <p:nvSpPr>
          <p:cNvPr id="92" name="Text 90"/>
          <p:cNvSpPr txBox="1"/>
          <p:nvPr/>
        </p:nvSpPr>
        <p:spPr>
          <a:xfrm>
            <a:off x="3200400" y="61447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※ 각 준거 오른쪽 숫자 = 관련 부서 수([붙임 4])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이 자료 활용 방법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</a:rPr>
              <a:t>영역별 슬라이드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459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</a:rPr>
              <a:t>평가준거마다 함께 참여하는 부서를 확인합니다 (협업 대상 파악)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</a:rPr>
              <a:t>정량지표 슬라이드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6974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</a:rPr>
              <a:t>정량지표 담당 부서는 기준값 충족 여부를 사전 점검합니다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</a:rPr>
              <a:t>부서별 슬라이드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749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</a:rPr>
              <a:t>우리 부서의 담당 준거와 보고서 작성 항목을 확인합니다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0" y="1280160"/>
            <a:ext cx="5212080" cy="4846320"/>
          </a:xfrm>
          <a:prstGeom prst="roundRect">
            <a:avLst>
              <a:gd name="adj" fmla="val 150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1463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유의사항 (원문)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92024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관련 부서는 과년도 평가보고서 내 작성된 부서 정량 · 정성 실적 기준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관련 부서는 담당 업무 및 보고서 실적 작성 여부에 따라 수시로 변동 · 추가 될 수 있음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평가준거별로 여러 부서 실적이 활용될 경우 주요 실적 부서를 관련 부서로 지정할 수 있음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안내한 담당부서 이외에 추가 또는 변경 의견이 있을 경우 기획처 연락 바람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지표별 담당 부서 수정(추가, 변경, 삭제)은 기획처로 연락 바람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</a:rPr>
              <a:t>※ 상세 매트릭스·필터 목록은 엑셀 파일 참고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영역 1  </a:t>
            </a:r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대학경영 및 사회적 책무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685800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평가준거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부서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부서 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1.1 교육목표 및 발전계획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기획처, 교무처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 거버넌스와 감사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기획처, 법인, 감사실, 인사관리실, 학생처, 교무처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1.3 재정 확보 및 집행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재무처, 대외협력처, 법인, 기획처, 산학협력단, 국제교류처, 총무처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1.4 체계 구축 및 운영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기획처, 대학혁신IR센터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1.5 교육성과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교무처, 취업진로지원처, 학생역량관리센터, 창업지원단, 대학혁신IR센터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1.6 사회공헌 및 지역사회 연계·협력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산학협력단, 사회봉사센터, 평생교육원, 백석인성혁신사업단, 도서관, 현대시100년관, 기독교박물관, 입학관리처, 지역혁신추진단, 기획처, 국제교류처, 교수학습개발원, 총무처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출처: [붙임 4]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5623"/>
                </a:solidFill>
              </a:rPr>
              <a:t>영역 2  </a:t>
            </a:r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교육과정 및 교수·학습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685800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평가준거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부서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부서 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2.1 교육과정 체계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커리큘럼인증센터, 교무처, 교양대학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756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2.2 교양 교육과정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교양대학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756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2.3 전공 교육과정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교무처, 커리큘럼인증센터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756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2.4 학사관리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교무처, 교수학습개발원, 커리큘럼인증센터, 교양대학, 학생생활상담센터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756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2.5 수업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교무처, 교수학습개발원, 원격교육지원센터, 커리큘럼인증센터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756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2.6 교수‧학습 지원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교수학습개발원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7562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출처: [붙임 4]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5A11"/>
                </a:solidFill>
              </a:rPr>
              <a:t>영역 3  </a:t>
            </a:r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교원 및 직원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685800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평가준거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부서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부서 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5A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3.1 교원 확보 및 구성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인사관리실, 교무처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55A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3.2 교원 인사 및 업적평가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인사관리실, 기획처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55A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 교원 처우 및 복지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인사관리실, 교무처, 총무처, 평생교육원, 학생처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55A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3.4 교원의 연구활동 및 성과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산학협력단, 인사관리실, 교무처, 백석정신아카데미, 교수학습개발원, 기획처, 취업진로지원처, 총무처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55A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3.5 직원 확보 및 인사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인사관리실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55A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3.6 직원 복지 및 업무 역량 개발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인사관리실, 총무처, 평생교육원, 학생처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55A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출처: [붙임 4]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4A8A"/>
                </a:solidFill>
              </a:rPr>
              <a:t>영역 4  </a:t>
            </a:r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학생지원 및 시설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685800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평가준거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부서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부서 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4.1 장학 제도 및 학생자치활동 지원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학생처, 시설관리처, 인권센터, 백석생활관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4A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4.2 학생 심리상담 및 권익 보호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학생생활상담센터, 인권센터, 취업진로지원처, 교양대학, 학생처, 장애학생지원센터, 국제교류처, 교수학습개발원, 백석생활관, 인성개발원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4A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4.3 진로 및 취·창업 지원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취업진로지원처, 창업지원단, 학생생활상담센터, 글로벌인재육성처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4A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4.4 교육시설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총무처, 교무처, 시설관리처, 대학원교학처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4A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4.5 기숙사 및 학생 복지시설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백석생활관, 학생처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4A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4.6 도서관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도서관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4A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출처: [붙임 4]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부서별 담당 평가준거 수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11247120" cy="5257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정량지표 및 기준값 (1/3)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114800"/>
                <a:gridCol w="182880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평가준거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정량지표명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기준값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부서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1.3 재정 확보 및 집행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세입 중 등록금 비율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72% 이하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기획처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1.3 재정 확보 및 집행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세입 중 기부금 비율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대외협력처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1.3 재정 확보 및 집행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세입 중 법인전입금 비율(사립대, 택1)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재무처, 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1.3 재정 확보 및 집행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법정부담금 부담률(사립대, 택1)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재무처, 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1.3 재정 확보 및 집행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법인의 법인전입금 비율(사립대, 택1)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재무처, 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1.3 재정 확보 및 집행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교육비 환원율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110%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재무처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1.5 교육성과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 충원 성과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85% / (정원내·외)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교무처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70916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* 자연계열(자연과학+공학+의학) 교수비율 20% 미만대학 기준값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** 4.4 교육시설 관련 정량지표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① 재학생 1인당 강의실 면적(㎡): 1.2㎡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② 재학생 1인당 실험·실습실 면적(㎡): 2.5㎡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③ 재학생 1인당 실험·실습 기자재 구입비(천원): 편람 참조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※ 세입 중 법인전입금 비율 / 법정부담금 부담률 / 법인의 법인전입금 비율: 원문상 "사립대, 택1"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정량지표 및 기준값 (계속 2/3)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114800"/>
                <a:gridCol w="182880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평가준거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정량지표명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기준값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부서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1.5 교육성과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졸업생의 진로 성과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55% / 27.5%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취업진로지원처, 창업지원단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3.1 교원 확보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전임교원 및 겸임교원 확보율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55A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인사관리실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 교원 처우 및 복지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강사 강의료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55A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매년 변동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교무처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3.4 교원의 연구활동 및 성과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전임교원 1인당 교내연구비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55A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1,000천원 / 500천원*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산학협력단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3.4 교원의 연구활동 및 성과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전임교원 1인당 등재(후보)지 논문 실적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55A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0.35건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산학협력단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3.4 교원의 연구활동 및 성과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전임교원 1인당 SCI 논문 실적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55A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0.05건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산학협력단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3.4 교원의 연구활동 및 성과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전임교원 1인당 저역서 실적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55A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0.06건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산학협력단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70916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* 자연계열(자연과학+공학+의학) 교수비율 20% 미만대학 기준값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** 4.4 교육시설 관련 정량지표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① 재학생 1인당 강의실 면적(㎡): 1.2㎡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② 재학생 1인당 실험·실습실 면적(㎡): 2.5㎡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③ 재학생 1인당 실험·실습 기자재 구입비(천원): 편람 참조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※ 세입 중 법인전입금 비율 / 법정부담금 부담률 / 법인의 법인전입금 비율: 원문상 "사립대, 택1"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정량지표 및 기준값 (계속 3/3)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47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114800"/>
                <a:gridCol w="182880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평가준거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정량지표명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기준값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부서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3.4 교원의 연구활동 및 성과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전임교원 1인당 교외연구비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55A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10,000천원 / 2,000천원*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산학협력단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3.5 직원 확보 및 인사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직원 1인당 학생수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55A1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70명 이하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인사관리실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4.1 장학 제도 및 학생자치활동 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장학금 비율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4A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4.4 교육시설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4.4 교육시설 관련 정량지표**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4A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**참조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교무처, 총무처, 대학원교학처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4.5 기숙사 및 학생 복지시설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기숙사 수용률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4A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백석생활관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4.6 도서관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재학생 1인당 연간 자료구입비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4A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54,000원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도서관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4.6 도서관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재학생 1,000명당 도서관 직원수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4A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도서관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70916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* 자연계열(자연과학+공학+의학) 교수비율 20% 미만대학 기준값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** 4.4 교육시설 관련 정량지표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① 재학생 1인당 강의실 면적(㎡): 1.2㎡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② 재학생 1인당 실험·실습실 면적(㎡): 2.5㎡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③ 재학생 1인당 실험·실습 기자재 구입비(천원): 편람 참조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※ 세입 중 법인전입금 비율 / 법정부담금 부담률 / 법인의 법인전입금 비율: 원문상 "사립대, 택1"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교무처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516636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담당 평가준거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11개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1.1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교육목표 및 발전계획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57984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5798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1.2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거버넌스와 감사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5786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1.5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교육성과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999232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9992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2.1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교육과정 체계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41985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2.3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전공 교육과정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8404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2.4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학사관리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261104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26110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2.5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수업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681728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6817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3.1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교원 확보 및 구성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102352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51023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3.3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교원 처우 및 복지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5522976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552297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3.4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교원의 연구활동 및 성과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594360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9436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4.4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교육시설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9319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</a:rPr>
              <a:t>보고서 작성 항목 (편람 내 보고서 주요 내용 기준)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93192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E79"/>
                </a:solidFill>
              </a:rPr>
              <a:t>1.1 교육목표 및 발전계획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교육이념-교육목적-교육목표의 체계(도)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교육목적-교육목표-인재상의 연계성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E79"/>
                </a:solidFill>
              </a:rPr>
              <a:t>1.2 거버넌스와 감사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대학 의사결정구조 구축 및 운영 현황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대학 구성원 참여와 소통을 위한 체계 및 추진실적, 환류실적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E79"/>
                </a:solidFill>
              </a:rPr>
              <a:t>1.5 교육성과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학생 충원 성과((정원내·외) 85%)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75623"/>
                </a:solidFill>
              </a:rPr>
              <a:t>2.1 교육과정 체계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교육목표, 인재상에 기초한 교육과정 체계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교육과정 편성·개선 체계, 교육과정 환류 및 개편 실적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75623"/>
                </a:solidFill>
              </a:rPr>
              <a:t>2.3 전공교육과정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전공교육과정과 학부·학과(전공) 교육목표 및 인재상과의 연계성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전공교육과정 편성 체계, 운영 현황, 체계적 이수 지원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부·복수, 다전공, 기타전공(융합, 연계, 자율전공 등)과 소단위 전공 제도 운영 현황 및 이수 실적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75623"/>
                </a:solidFill>
              </a:rPr>
              <a:t>2.4 학사관리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학사관리 체계, 학사 운영 현황, 성적관리 체계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75623"/>
                </a:solidFill>
              </a:rPr>
              <a:t>2.5 수업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전임교원의 강의 담당 현황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수업 지원을 위한 정보체계 구축 현황 및 운영 실적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수업평가 내용 및 방법, 결과 공개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수업평가 결과 활용을 통한 수업 개선 노력 및 실적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55A11"/>
                </a:solidFill>
              </a:rPr>
              <a:t>3.1 교원 확보 및 구성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교원의 소속별, 직제별, 유형별 구성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강사 임용 절차 및 방법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교무처</a:t>
            </a:r>
            <a:pPr indent="0" marL="0">
              <a:buNone/>
            </a:pPr>
            <a:r>
              <a:rPr lang="en-US" sz="2000" b="1" dirty="0">
                <a:solidFill>
                  <a:srgbClr val="7F7F7F"/>
                </a:solidFill>
              </a:rPr>
              <a:t>  (계속)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516636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담당 평가준거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11개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1.1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교육목표 및 발전계획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57984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5798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1.2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거버넌스와 감사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5786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1.5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교육성과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999232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9992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2.1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교육과정 체계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41985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2.3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전공 교육과정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8404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2.4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학사관리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261104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26110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2.5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수업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681728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6817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3.1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교원 확보 및 구성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102352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51023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3.3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교원 처우 및 복지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5522976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552297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3.4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교원의 연구활동 및 성과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594360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9436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4.4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교육시설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9319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</a:rPr>
              <a:t>보고서 작성 항목 (편람 내 보고서 주요 내용 기준)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93192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55A11"/>
                </a:solidFill>
              </a:rPr>
              <a:t>3.3 교원의 처우 및 복지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강사 강의료(매년 변동)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교원 복지제도 운영 현황(강사 복지제도)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55A11"/>
                </a:solidFill>
              </a:rPr>
              <a:t>3.4 교원의 연구활동 및 성과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교원의 연구발표, 학회참여 등과 관련된 행·재정 지원 실적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5B4A8A"/>
                </a:solidFill>
              </a:rPr>
              <a:t>4.4 교육시설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강의실 확보 현황(1.2㎡)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실험·실습실 확보 현황(2.5㎡)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전공 실험·실습·실기 과목 수업 운영비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학생처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516636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담당 평가준거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6개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1.2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거버넌스와 감사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57984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5798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3.3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교원 처우 및 복지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5786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3.6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직원 복지 및 업무 역량 개발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999232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9992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4.1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장학 제도 및 학생자치활동 지원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41985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4.2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학생 심리상담 및 권익 보호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8404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4.5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기숙사 및 학생 복지시설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</a:rPr>
              <a:t>보고서 작성 항목 (편람 내 보고서 주요 내용 기준)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E79"/>
                </a:solidFill>
              </a:rPr>
              <a:t>1.2 거버넌스와 감사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대학 의사결정구조 구축 및 운영 현황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대학 구성원 참여와 소통을 위한 체계 및 추진실적, 환류실적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55A11"/>
                </a:solidFill>
              </a:rPr>
              <a:t>3.3 교원 처우 및 복지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교원 복지제도 운영 현황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55A11"/>
                </a:solidFill>
              </a:rPr>
              <a:t>3.6 직원 복지 및 업무 역량 개발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직원 복지제도 운영 실적 및 예산 집행 현황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5B4A8A"/>
                </a:solidFill>
              </a:rPr>
              <a:t>4.1 장학 제도 및 학생자치활동 지원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장학금 비율(12%)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장학제도 운영 현황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학생자치활동 지원 체계 및 지원 실적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대학의 학교행사 안전관리 노력 및 이행 실적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5B4A8A"/>
                </a:solidFill>
              </a:rPr>
              <a:t>4.2 학생 심리상담 및 권익 보호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학생 권익 보호를 위한 규정 및 체계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소수집단학생 지원 규정 및 체계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소수집단학생 지원 예산 규모 및 집행 실적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5B4A8A"/>
                </a:solidFill>
              </a:rPr>
              <a:t>4.5 기숙사 및 학생 복지시설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학생 복지시설 현황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학생 복지시설별 만족도 조사 결과 및 개선 실적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입학관리처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516636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담당 평가준거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1개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1.6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사회공헌 및 지역사회 연계·협력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</a:rPr>
              <a:t>보고서 작성 항목 (편람 내 보고서 주요 내용 기준)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E79"/>
                </a:solidFill>
              </a:rPr>
              <a:t>1.6 사회공헌 및 지역사회 연계·협력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지역사회와의 연계·협력과 인적·물적 자원 공유 실적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취업진로지원처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516636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담당 평가준거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4개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1.5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교육성과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57984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5798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3.4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교원의 연구활동 및 성과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5786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4.2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학생 심리상담 및 권익 보호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999232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9992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4.3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진로 및 취·창업 지원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</a:rPr>
              <a:t>보고서 작성 항목 (편람 내 보고서 주요 내용 기준)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E79"/>
                </a:solidFill>
              </a:rPr>
              <a:t>1.5 교육성과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졸업생 진로 성과(55% / 27.5%)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55A11"/>
                </a:solidFill>
              </a:rPr>
              <a:t>3.4 교원의 연구활동 및 성과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교원의 연구발표, 학회참여 등과 관련된 행·재정 지원 실적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5B4A8A"/>
                </a:solidFill>
              </a:rPr>
              <a:t>4.2 학생 심리상담 및 권익 보호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학생 심리상담 관련 조직 및 예산 편성·집행 현황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학생 심리상담 운영 실적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학생 심리상담 만족도 조사 결과 및 개선 실적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5B4A8A"/>
                </a:solidFill>
              </a:rPr>
              <a:t>4.3 진로 및 취·창업 지원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진로 및 취업지원 조직 현황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진로 및 취업지원 프로그램 운영 및 예산 편성·집행 현황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진로 및 취업지원에 대한 만족도 조사 결과와 개선 실적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기획처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516636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담당 평가준거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7개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1.1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교육목표 및 발전계획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57984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5798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1.2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거버넌스와 감사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5786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1.3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재정 확보 및 집행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999232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9992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1.4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체계 구축 및 운영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41985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1.6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사회공헌 및 지역사회 연계·협력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8404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3.2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교원 인사 및 업적평가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261104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26110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3.4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교원의 연구활동 및 성과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</a:rPr>
              <a:t>보고서 작성 항목 (편람 내 보고서 주요 내용 기준)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E79"/>
                </a:solidFill>
              </a:rPr>
              <a:t>1.1 교육목표 및 발전계획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교육이념-교육목적-교육목표의 체계(도)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교육목적-교육목표-인재상의 연계성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대학 중장기 발전계획의 수립과정, 내용, 추진 실적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E79"/>
                </a:solidFill>
              </a:rPr>
              <a:t>1.2 거버넌스와 감사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대학 의사결정구조 구축 및 운영 현황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대학 구성원 참여와 소통을 위한 체계 및 추진실적, 환류실적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E79"/>
                </a:solidFill>
              </a:rPr>
              <a:t>1.3 재정 확보 및 집행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세입 중 등록금 비율(72% 이하)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재정 확보 노력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교육비 환원율(110%)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예산 편성 및 집행의 절차와 방법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예산 집행 실적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예산 집행의 평가 및 환류 실적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E79"/>
                </a:solidFill>
              </a:rPr>
              <a:t>1.4 성과관리체계 구축 및 운영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대학의 성과관리 체계 구축·운영 현황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대학 중장기 발전계획과 연계한 성과관리 실시 현황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대학 중장기 발전계획과 연계한 성과관리 환류 실적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E79"/>
                </a:solidFill>
              </a:rPr>
              <a:t>1.6 사회공헌 및 지역사회 연계·협력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사회공헌 활동 계획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55A11"/>
                </a:solidFill>
              </a:rPr>
              <a:t>3.2 교원 인사 및 업적평가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교원업적평가 운영 현황 및 결과 활용 실적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55A11"/>
                </a:solidFill>
              </a:rPr>
              <a:t>3.4 교원의 연구활동 및 성과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교원의 연구발표, 학회참여 등과 관련된 행·재정 지원 실적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총무처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516636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담당 평가준거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6개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1.3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재정 확보 및 집행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57984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5798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1.6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사회공헌 및 지역사회 연계·협력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5786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3.3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교원 처우 및 복지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999232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9992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3.4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교원의 연구활동 및 성과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41985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3.6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직원 복지 및 업무 역량 개발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8404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4.4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교육시설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</a:rPr>
              <a:t>보고서 작성 항목 (편람 내 보고서 주요 내용 기준)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E79"/>
                </a:solidFill>
              </a:rPr>
              <a:t>1.3 재정 확보 및 집행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재정 확보 노력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E79"/>
                </a:solidFill>
              </a:rPr>
              <a:t>1.6 사회공헌 및 지역사회 연계·협력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지역사회와의 연계·협력과 인적·물적 자원 공유 실적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55A11"/>
                </a:solidFill>
              </a:rPr>
              <a:t>3.3 교원 처우 및 복지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교원 복지제도 운영 현황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55A11"/>
                </a:solidFill>
              </a:rPr>
              <a:t>3.4 교원의 연구활동 및 성과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교원의 연구발표, 학회참여 등과 관련된 행·재정 지원 실적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55A11"/>
                </a:solidFill>
              </a:rPr>
              <a:t>3.6 직원 복지 및 업무 역량 개발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직원 복지제도 운영 실적 및 예산 집행 현황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직원 업무 역량 개발 기본계획 및 행·재정적 지원 현황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직원 업무 역량 개발을 위한 요구 조사 및 만족도 조사결과 활용 실적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5B4A8A"/>
                </a:solidFill>
              </a:rPr>
              <a:t>4.4 교육시설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실험·실습 기자재 구입비(편람 참조)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실험·실습실의 관리(안전점검 포함) 현황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재무처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516636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담당 평가준거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1개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1.3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재정 확보 및 집행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</a:rPr>
              <a:t>보고서 작성 항목 (편람 내 보고서 주요 내용 기준)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E79"/>
                </a:solidFill>
              </a:rPr>
              <a:t>1.3 재정 확보 및 집행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세입 중 법인 전입금 비율(택3: 법인전입금(원)/법인 일반회계 재정규모(원)×100 / 기준값: 일반대학 10%)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교육비 환원율(110%)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예산 집행의 절차와 방법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예산 집행 실적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예산 집행의 평가 및 환류 실적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시설관리처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516636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담당 평가준거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2개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4.1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장학 제도 및 학생자치활동 지원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57984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5798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4.4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교육시설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</a:rPr>
              <a:t>보고서 작성 항목 (편람 내 보고서 주요 내용 기준)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5B4A8A"/>
                </a:solidFill>
              </a:rPr>
              <a:t>4.1 장학 제도 및 학생자치활동 지원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대학의 안전관리 규정 및 체계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대학의 학교행사 안전관리 노력 및 이행 실적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5B4A8A"/>
                </a:solidFill>
              </a:rPr>
              <a:t>4.4 교육시설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실험·실습실의 관리(안전관리 포함) 현황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실험·실습실의 이용자 대상 안전교육 현황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글로벌인재육성처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516636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담당 평가준거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1개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4.3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진로 및 취·창업 지원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</a:rPr>
              <a:t>보고서 작성 항목 (편람 내 보고서 주요 내용 기준)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5B4A8A"/>
                </a:solidFill>
              </a:rPr>
              <a:t>4.3 진로 및 취·창업 지원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취업지원 조직 현황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취업지원 프로그램 운영 및 예산 편성·집행 현황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취업지원에 대한 만족도 조사 결과와 개선 실적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대외협력처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516636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담당 평가준거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1개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1.3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재정 확보 및 집행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</a:rPr>
              <a:t>보고서 작성 항목 (편람 내 보고서 주요 내용 기준)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E79"/>
                </a:solidFill>
              </a:rPr>
              <a:t>1.3 재정 확보 및 집행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세입 중 기부금 비율(0.4%)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국제교류처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516636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담당 평가준거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3개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1.3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재정 확보 및 집행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57984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5798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1.6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사회공헌 및 지역사회 연계·협력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5786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4.2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학생 심리상담 및 권익 보호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</a:rPr>
              <a:t>보고서 작성 항목 (편람 내 보고서 주요 내용 기준)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E79"/>
                </a:solidFill>
              </a:rPr>
              <a:t>1.3 재정 확보 및 집행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재정 확보 노력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E79"/>
                </a:solidFill>
              </a:rPr>
              <a:t>1.6 사회공헌 및 지역사회 연계·협력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지역사회(지역대학, 해외기관 등 포함)와의 연계·협력과 인적·물적 자원 공유 실적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5B4A8A"/>
                </a:solidFill>
              </a:rPr>
              <a:t>4.2 학생 심리상담 및 권익 보호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학생 권익 보호를 위한 규정 및 체계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소수집단학생 현황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소수집단학생 지원 규정 및 체계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소수집단학생 지원 예산 규모 및 집행 실적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소수집단학생 지원 시설 및 프로그램 운영 실적</a:t>
            </a:r>
            <a:endParaRPr lang="en-US" sz="1200" dirty="0"/>
          </a:p>
          <a:p>
            <a:pPr lvl="1" marL="304800" indent="-152400">
              <a:spcAft>
                <a:spcPts val="200"/>
              </a:spcAft>
              <a:buSzPct val="100000"/>
              <a:buChar char="·"/>
            </a:pPr>
            <a:r>
              <a:rPr lang="en-US" sz="1200" dirty="0">
                <a:solidFill>
                  <a:srgbClr val="404040"/>
                </a:solidFill>
              </a:rPr>
              <a:t>편의시설(기숙사 등) 및 교육시설</a:t>
            </a:r>
            <a:endParaRPr lang="en-US" sz="1200" dirty="0"/>
          </a:p>
          <a:p>
            <a:pPr lvl="1" marL="304800" indent="-152400">
              <a:spcAft>
                <a:spcPts val="200"/>
              </a:spcAft>
              <a:buSzPct val="100000"/>
              <a:buChar char="·"/>
            </a:pPr>
            <a:r>
              <a:rPr lang="en-US" sz="1200" dirty="0">
                <a:solidFill>
                  <a:srgbClr val="404040"/>
                </a:solidFill>
              </a:rPr>
              <a:t>소수집단학생을 위한 적응 프로그램 운영 실적, 소수집단학생에 대한 이해 프로그램 운영 실적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소수집단학생 대상 만족도 조사 결과 및 개선 실적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인사관리실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516636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담당 평가준거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7개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1.2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거버넌스와 감사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57984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5798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3.1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교원 확보 및 구성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5786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3.2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교원 인사 및 업적평가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999232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9992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3.3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교원 처우 및 복지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41985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3.4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교원의 연구활동 및 성과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8404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3.5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직원 확보 및 인사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261104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26110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3.6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직원 복지 및 업무 역량 개발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</a:rPr>
              <a:t>보고서 작성 항목 (편람 내 보고서 주요 내용 기준)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E79"/>
                </a:solidFill>
              </a:rPr>
              <a:t>1.2 거버넌스와 감사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대학 의사결정구조 구축 및 운영 현황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대학 구성원 참여와 소통을 위한 체계 및 추진실적, 환류실적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55A11"/>
                </a:solidFill>
              </a:rPr>
              <a:t>3.1 교원 확보 및 구성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전임교원 및 겸임교원 확보율(64%)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교원 확보 계획에 따른 임용 절차 방법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교원의 소속별, 직제별, 유형별 구성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교원 임용정책에 따른 교원 유형별 임용목적 및 담당 업무 주요 현황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55A11"/>
                </a:solidFill>
              </a:rPr>
              <a:t>3.2 교원 인사 및 업적평가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교원 인사제도 운영 현황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교원업적평가 운영 현황 및 결과 활용 실적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55A11"/>
                </a:solidFill>
              </a:rPr>
              <a:t>3.3 교원 처우 및 복지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교원의 트랙별·직급별 보수 수준과 최저보수 수준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55A11"/>
                </a:solidFill>
              </a:rPr>
              <a:t>3.4 교원의 연구활동 및 성과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연구년제 실시 현황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55A11"/>
                </a:solidFill>
              </a:rPr>
              <a:t>3.5 직원 확보 및 인사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직원 1인당 학생수(70명 이하)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직원 확보계획에 따른 채용 절차 및 방법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직원 구성(고용형태별, 직급별) 현황, 직원평가 현황 및 결과 활용 실적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직원 인사제도(승진, 재임용) 운영 현황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55A11"/>
                </a:solidFill>
              </a:rPr>
              <a:t>3.6 직원 복지 및 업무 역량 개발 지원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직원의 직급별 보수 수준과 최저임금 수준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직원 법정 노동시간 준수를 위한 노력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감사실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516636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담당 평가준거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1개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1.2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거버넌스와 감사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</a:rPr>
              <a:t>보고서 작성 항목 (편람 내 보고서 주요 내용 기준)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E79"/>
                </a:solidFill>
              </a:rPr>
              <a:t>1.2 거버넌스와 감사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대학 의사결정구조 구축 및 운영 현황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대학 구성원 참여와 소통을 위한 체계 및 추진실적, 환류실적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대학 자체감사를 포함한 내·외부 감사제도 운영 현황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감사 결과 반영 실적, 감사 결과 공개 방법 및 공개 범위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공익제보 절차 및 공익제보자 보호 제도 현황 및 운영 실적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산학협력단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516636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담당 평가준거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3개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1.3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재정 확보 및 집행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57984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5798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1.6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사회공헌 및 지역사회 연계·협력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5786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3.4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교원의 연구활동 및 성과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</a:rPr>
              <a:t>보고서 작성 항목 (편람 내 보고서 주요 내용 기준)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E79"/>
                </a:solidFill>
              </a:rPr>
              <a:t>1.3 재정 확보 및 집행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재정 확보 노력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E79"/>
                </a:solidFill>
              </a:rPr>
              <a:t>1.6 사회공헌 및 지역사회 연계·협력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지역사회(지역대학, 해외기관 등 포함)와의 연계·협력과 인적·물적 자원 공유 추진 체계 및 공유 실적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55A11"/>
                </a:solidFill>
              </a:rPr>
              <a:t>3.4 교원의 연구활동 및 성과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전임교원 1인당 교내연구비(1,000천원 or 500천원)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교원의 연구 발표, 학회참여 등과 관련된 행·재정 지원 실적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1인당 등재지 논문 실적(0.35건)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1인당 SCI급 논문 실적(0.05건)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1인당 저역서 실적(0.06건)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1인당 교외연구비(10,000천원 or 2,000천원)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연구윤리 확립 체계 및 실적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창업지원단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516636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담당 평가준거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2개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1.5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교육성과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57984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5798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4.3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진로 및 취·창업 지원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</a:rPr>
              <a:t>보고서 작성 항목 (편람 내 보고서 주요 내용 기준)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E79"/>
                </a:solidFill>
              </a:rPr>
              <a:t>1.5 교육성과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졸업생 진로 성과(55% / 27.5%)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5B4A8A"/>
                </a:solidFill>
              </a:rPr>
              <a:t>4.3 진로 및 취·창업 지원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창업지원 조직 현황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창업지원 프로그램 운영 및 예산 편성·집행 현황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창업지원에 대한 만족도 조사 결과와 개선 실적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도서관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516636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담당 평가준거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2개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1.6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사회공헌 및 지역사회 연계·협력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57984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5798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4.6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도서관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</a:rPr>
              <a:t>보고서 작성 항목 (편람 내 보고서 주요 내용 기준)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E79"/>
                </a:solidFill>
              </a:rPr>
              <a:t>1.6 사회공헌 및 지역사회 연계·협력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지역사회(지역대학, 해외기관 등 포함)와의 연계·협력과 인적·물적 자원 공유 실적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5B4A8A"/>
                </a:solidFill>
              </a:rPr>
              <a:t>4.6 도서관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재학생 1인당 연간 자료구입비(54,000원)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재학생 1,000명당 도서관 직원수(1.0명)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도서관 시설 및 정보화 환경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도서관에서 제공하는 교수·학습지원, 문화 프로그램 운영 실적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도서관 이용자 만족도 조사 결과 및 개선 실적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교수학습개발원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516636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담당 평가준거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6개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1.6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사회공헌 및 지역사회 연계·협력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57984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5798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2.4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학사관리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5786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2.5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수업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999232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9992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2.6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교수‧학습 지원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41985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3.4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교원의 연구활동 및 성과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8404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4.2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학생 심리상담 및 권익 보호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</a:rPr>
              <a:t>보고서 작성 항목 (편람 내 보고서 주요 내용 기준)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E79"/>
                </a:solidFill>
              </a:rPr>
              <a:t>1.6 사회공헌 및 지역사회 연계·협력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지역사회(지역대학, 해외기관 등 포함)와의 연계·협력과 인적·물적 자원 공유 실적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75623"/>
                </a:solidFill>
              </a:rPr>
              <a:t>2.4 학사관리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성적관리 체계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75623"/>
                </a:solidFill>
              </a:rPr>
              <a:t>2.5 수업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수업 지원을 위한 정보체계 구축 현황 및 운영 실적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원격수업 운영 현황(원격교육지원센터)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75623"/>
                </a:solidFill>
              </a:rPr>
              <a:t>2.6 교수·학습 지원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전담 조직, 교수·학습지원센터 구성원 전문성 개발 지원 현황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예산 편성 및 집행 현황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교수·학습 프로그램 및 자료 자체 개발 및 활용 현황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프로그램 평가 및 개선 노력 실적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55A11"/>
                </a:solidFill>
              </a:rPr>
              <a:t>3.4 교원의 연구활동 및 성과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교원의 연구발표, 학회참여 등과 관련된 행·재정 지원 실적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5B4A8A"/>
                </a:solidFill>
              </a:rPr>
              <a:t>4.2 학생 심리상담 및 권익 보호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소수집단학생 지원 규정 및 체계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소수집단학생 지원 예산 규모 및 집행 실적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소수집단학생 프로그램 운영 실적(소수집단학생을 위한 교수·학습 지원 실적)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소수집단학생 대상 만족도 조사 결과 및 개선 실적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커리큘럼인증센터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516636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담당 평가준거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4개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2.1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교육과정 체계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57984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5798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2.3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전공 교육과정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5786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2.4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학사관리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999232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9992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2.5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수업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</a:rPr>
              <a:t>보고서 작성 항목 (편람 내 보고서 주요 내용 기준)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75623"/>
                </a:solidFill>
              </a:rPr>
              <a:t>2.1 교육과정 체계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교육목표, 인재상에 기초한 교육과정 체계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교육과정 편성·개선 체계, 교육과정 환류 및 개편 실적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75623"/>
                </a:solidFill>
              </a:rPr>
              <a:t>2.3 전공교육과정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전공교육과정과 학부·학과(전공) 교육목표 및 인재상과의 연계성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전공교육과정 편성 체계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75623"/>
                </a:solidFill>
              </a:rPr>
              <a:t>2.4 학사관리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학사관리 체계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75623"/>
                </a:solidFill>
              </a:rPr>
              <a:t>2.5 수업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수업평가 내용 및 방법, 결과 공개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수업평가 결과 활용을 통한 수업 개선 노력 및 실적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교양대학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516636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담당 평가준거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4개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2.1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교육과정 체계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57984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5798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2.2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교양 교육과정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5786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2.4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학사관리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999232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9992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4.2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학생 심리상담 및 권익 보호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</a:rPr>
              <a:t>보고서 작성 항목 (편람 내 보고서 주요 내용 기준)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75623"/>
                </a:solidFill>
              </a:rPr>
              <a:t>2.1 교육과정 체계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교육목표, 인재상에 기초한 교육과정 체계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교육과정 편성·개선 체계, 교육과정 환류 및 개편 실적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75623"/>
                </a:solidFill>
              </a:rPr>
              <a:t>2.2 교양교육과정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교양교육과정 편성 체계, 운영 현황, 운영 규모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교양교육 운영 지원 체계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75623"/>
                </a:solidFill>
              </a:rPr>
              <a:t>2.4 학사관리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학사운영 현황, 성적관리 체계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5B4A8A"/>
                </a:solidFill>
              </a:rPr>
              <a:t>4.2 학생 심리상담 및 권익 보호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학생 심리상담 관련 조직 및 예산 편성·집행 현황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학생 심리상담 운영 실적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소수집단학생 프로그램 운영 실적</a:t>
            </a:r>
            <a:endParaRPr lang="en-US" sz="1200" dirty="0"/>
          </a:p>
          <a:p>
            <a:pPr lvl="1" marL="304800" indent="-152400">
              <a:spcAft>
                <a:spcPts val="200"/>
              </a:spcAft>
              <a:buSzPct val="100000"/>
              <a:buChar char="·"/>
            </a:pPr>
            <a:r>
              <a:rPr lang="en-US" sz="1200" dirty="0">
                <a:solidFill>
                  <a:srgbClr val="404040"/>
                </a:solidFill>
              </a:rPr>
              <a:t>소수집단학생을 위한 대학 생활 상담 실적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평생교육원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516636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담당 평가준거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3개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1.6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사회공헌 및 지역사회 연계·협력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57984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5798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3.3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교원 처우 및 복지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5786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</a:rPr>
              <a:t>3.6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직원 복지 및 업무 역량 개발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</a:rPr>
              <a:t>보고서 작성 항목 (편람 내 보고서 주요 내용 기준)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E79"/>
                </a:solidFill>
              </a:rPr>
              <a:t>1.6 사회공헌 및 지역사회 연계·협력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지역사회(지역대학, 해외기관 등 포함)와의 연계·협력과 인적·물적 자원 공유 실적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55A11"/>
                </a:solidFill>
              </a:rPr>
              <a:t>3.3 교원 처우 및 복지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교원 복지제도 운영 현황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55A11"/>
                </a:solidFill>
              </a:rPr>
              <a:t>3.6 직원 복지 및 업무 역량 개발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직원 복지제도 운영 실적 및 예산 집행 현황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백석생활관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516636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담당 평가준거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3개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4.1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장학 제도 및 학생자치활동 지원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57984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5798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4.2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학생 심리상담 및 권익 보호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5786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4.5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기숙사 및 학생 복지시설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</a:rPr>
              <a:t>보고서 작성 항목 (편람 내 보고서 주요 내용 기준)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5B4A8A"/>
                </a:solidFill>
              </a:rPr>
              <a:t>4.1 장학 제도 및 학생자치활동 지원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대학의 학교행사 안전관리 노력 및 이행 실적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5B4A8A"/>
                </a:solidFill>
              </a:rPr>
              <a:t>4.2 학생 심리상담 및 권익 보호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소수집단학생 지원 규정 및 체계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5B4A8A"/>
                </a:solidFill>
              </a:rPr>
              <a:t>4.5 기숙사 및 학생 복지시설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기숙사 현황</a:t>
            </a:r>
            <a:endParaRPr lang="en-US" sz="1200" dirty="0"/>
          </a:p>
          <a:p>
            <a:pPr lvl="1" marL="304800" indent="-152400">
              <a:spcAft>
                <a:spcPts val="200"/>
              </a:spcAft>
              <a:buSzPct val="100000"/>
              <a:buChar char="·"/>
            </a:pPr>
            <a:r>
              <a:rPr lang="en-US" sz="1200" dirty="0">
                <a:solidFill>
                  <a:srgbClr val="404040"/>
                </a:solidFill>
              </a:rPr>
              <a:t>기숙사 수용률(11%)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기숙사 환경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기숙사 만족도 조사 결과 및 개선 실적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학생생활상담센터·인권센터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516636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담당 평가준거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4개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2.4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학사관리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57984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5798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4.1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장학 제도 및 학생자치활동 지원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57860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4.2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학생 심리상담 및 권익 보호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999232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9992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4.3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진로 및 취·창업 지원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</a:rPr>
              <a:t>보고서 작성 항목 (편람 내 보고서 주요 내용 기준)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75623"/>
                </a:solidFill>
              </a:rPr>
              <a:t>2.4 학사관리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성적관리 체계(학생생활상담센터)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5B4A8A"/>
                </a:solidFill>
              </a:rPr>
              <a:t>4.1 장학 제도 및 학생자치활동 지원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대학의 학교행사 안전관리 노력 및 이행 실적(학생생활상담센터)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5B4A8A"/>
                </a:solidFill>
              </a:rPr>
              <a:t>4.2 학생 심리상담 및 권익 보호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학생 심리상담 관련 조직 및 예산 편성·집행 현황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학생 심리상담 운영 실적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학생 심리상담 만족도 조사 결과 및 개선 실적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학생 권익 보호를 위한 규정 및 체계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학생 권익 보호 활동 실적(인권센터)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학생 권익 보호에 대한 실태조사 및 개선 실적(인권센터)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소수집단학생 지원 규정 및 체계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소수집단학생 프로그램 운영 실적</a:t>
            </a:r>
            <a:endParaRPr lang="en-US" sz="1200" dirty="0"/>
          </a:p>
          <a:p>
            <a:pPr lvl="1" marL="304800" indent="-152400">
              <a:spcAft>
                <a:spcPts val="200"/>
              </a:spcAft>
              <a:buSzPct val="100000"/>
              <a:buChar char="·"/>
            </a:pPr>
            <a:r>
              <a:rPr lang="en-US" sz="1200" dirty="0">
                <a:solidFill>
                  <a:srgbClr val="404040"/>
                </a:solidFill>
              </a:rPr>
              <a:t>소수집단학생을 위한 대학생활 상담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소수집단학생 대상 만족도 조사 결과 및 개선 실적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5B4A8A"/>
                </a:solidFill>
              </a:rPr>
              <a:t>4.3 진로 및 취·창업 지원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진로 및 취·창업 지원 조직 현황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사회봉사센터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516636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담당 평가준거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1개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1.6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사회공헌 및 지역사회 연계·협력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</a:rPr>
              <a:t>보고서 작성 항목 (편람 내 보고서 주요 내용 기준)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E79"/>
                </a:solidFill>
              </a:rPr>
              <a:t>1.6 사회공헌 및 지역사회 연계·협력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대학의 사회봉사 정책 및 추진 근거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사회봉사 프로그램(교과목 포함) 운영 실적</a:t>
            </a:r>
            <a:endParaRPr lang="en-US" sz="1200" dirty="0"/>
          </a:p>
          <a:p>
            <a:pPr lvl="1" marL="304800" indent="-152400">
              <a:spcAft>
                <a:spcPts val="200"/>
              </a:spcAft>
              <a:buSzPct val="100000"/>
              <a:buChar char="·"/>
            </a:pPr>
            <a:r>
              <a:rPr lang="en-US" sz="1200" dirty="0">
                <a:solidFill>
                  <a:srgbClr val="404040"/>
                </a:solidFill>
              </a:rPr>
              <a:t>대학 구성원(교원, 직원) 사회봉사 프로그램 참여 실적, 행·재정적 지원 실적 등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지역사회(지역대학, 해외기관 등 포함)와의 연계·협력과 인적·물적 자원 공유 실적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장애학생지원센터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516636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담당 평가준거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1개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4.2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학생 심리상담 및 권익 보호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</a:rPr>
              <a:t>보고서 작성 항목 (편람 내 보고서 주요 내용 기준)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5B4A8A"/>
                </a:solidFill>
              </a:rPr>
              <a:t>4.2 학생 심리상담 및 권익 보호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학생 권익 보호를 위한 규정 및 체계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학생 권익 보호 활동 실적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소수집단학생 현황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소수집단학생 지원 규정 및 체계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소수집단학생 지원 예산 규모 및 집행 실적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소수집단학생 지원 시설 및 프로그램 운영 실적</a:t>
            </a:r>
            <a:endParaRPr lang="en-US" sz="1200" dirty="0"/>
          </a:p>
          <a:p>
            <a:pPr lvl="1" marL="304800" indent="-152400">
              <a:spcAft>
                <a:spcPts val="200"/>
              </a:spcAft>
              <a:buSzPct val="100000"/>
              <a:buChar char="·"/>
            </a:pPr>
            <a:r>
              <a:rPr lang="en-US" sz="1200" dirty="0">
                <a:solidFill>
                  <a:srgbClr val="404040"/>
                </a:solidFill>
              </a:rPr>
              <a:t>장애학생지원센터, 편의시설 및 교육시설, 장애학생 교육공학기기 현황</a:t>
            </a:r>
            <a:endParaRPr lang="en-US" sz="1200" dirty="0"/>
          </a:p>
          <a:p>
            <a:pPr lvl="1" marL="304800" indent="-152400">
              <a:spcAft>
                <a:spcPts val="200"/>
              </a:spcAft>
              <a:buSzPct val="100000"/>
              <a:buChar char="·"/>
            </a:pPr>
            <a:r>
              <a:rPr lang="en-US" sz="1200" dirty="0">
                <a:solidFill>
                  <a:srgbClr val="404040"/>
                </a:solidFill>
              </a:rPr>
              <a:t>소수집단학생 도우미 지원 제도 운영 실적</a:t>
            </a:r>
            <a:endParaRPr lang="en-US" sz="1200" dirty="0"/>
          </a:p>
          <a:p>
            <a:pPr lvl="1" marL="304800" indent="-152400">
              <a:spcAft>
                <a:spcPts val="200"/>
              </a:spcAft>
              <a:buSzPct val="100000"/>
              <a:buChar char="·"/>
            </a:pPr>
            <a:r>
              <a:rPr lang="en-US" sz="1200" dirty="0">
                <a:solidFill>
                  <a:srgbClr val="404040"/>
                </a:solidFill>
              </a:rPr>
              <a:t>소수집단학생에 대한 이해 프로그램 운영 실적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소수집단학생 대상 만족도 조사 결과 및 개선 실적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학생역량관리센터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516636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담당 평가준거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1개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1.5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교육성과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</a:rPr>
              <a:t>보고서 작성 항목 (편람 내 보고서 주요 내용 기준)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E79"/>
                </a:solidFill>
              </a:rPr>
              <a:t>1.5 교육성과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학생학습성과 관리 및 운영 실적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백석인성혁신사업단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516636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담당 평가준거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1개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1.6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사회공헌 및 지역사회 연계·협력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</a:rPr>
              <a:t>보고서 작성 항목 (편람 내 보고서 주요 내용 기준)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E79"/>
                </a:solidFill>
              </a:rPr>
              <a:t>1.6 사회공헌 및 지역사회 연계·협력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지역사회(지역대학, 해외기관 등 포함)와의 연계·협력과 인적·물적 자원 공유 실적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인성개발원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516636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담당 평가준거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1개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A8A"/>
                </a:solidFill>
              </a:rPr>
              <a:t>4.2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학생 심리상담 및 권익 보호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</a:rPr>
              <a:t>보고서 작성 항목 (편람 내 보고서 주요 내용 기준)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5B4A8A"/>
                </a:solidFill>
              </a:rPr>
              <a:t>4.2 학생 심리상담 및 권익 보호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학생 심리상담 관련 조직 및 예산 편성·집행 현황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학생 심리상담 운영 실적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학생 심리상담 만족도 조사 결과 및 개선 실적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소수집단학생 지원 예산 규모 및 집행 실적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소수집단학생 프로그램 운영 실적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소수집단학생 대상 만족도 조사 결과 및 개선 실적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지역혁신추진단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516636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담당 평가준거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1개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1.6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사회공헌 및 지역사회 연계·협력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</a:rPr>
              <a:t>보고서 작성 항목 (편람 내 보고서 주요 내용 기준)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E79"/>
                </a:solidFill>
              </a:rPr>
              <a:t>1.6 사회공헌 및 지역사회 연계·협력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지역사회(지역대학, 해외기관 등 포함)와의 연계·협력과 인적·물적 자원 공유 실적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대학혁신IR센터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200400" cy="516636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</a:rPr>
              <a:t>담당 평가준거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</a:rPr>
              <a:t>2개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1.4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체계 구축 및 운영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157984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DCE6F2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5798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1.5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교육성과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</a:rPr>
              <a:t>보고서 작성 항목 (편람 내 보고서 주요 내용 기준)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1554480"/>
            <a:ext cx="3794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E79"/>
                </a:solidFill>
              </a:rPr>
              <a:t>1.4 성과관리체계 구축 및 운영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대학의 성과관리체계 구축·운영 현황</a:t>
            </a:r>
            <a:endParaRPr lang="en-US" sz="120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4E79"/>
                </a:solidFill>
              </a:rPr>
              <a:t>1.5 교육성과</a:t>
            </a:r>
            <a:endParaRPr lang="en-US" sz="12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교육만족도 조사 대상, 시기, 방법, 내용, 결과, 환류 실적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</a:rPr>
              <a:t>기타 관련 부서 (세부 작성항목 별도 안내 없음)</a:t>
            </a:r>
            <a:endParaRPr lang="en-US" sz="28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03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부서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평가준거 ([붙임 4])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법인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 거버넌스와 감사, 1.3 재정 확보 및 집행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현대시100년관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1.6 사회공헌 및 지역사회 연계·협력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기독교박물관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1.6 사회공헌 및 지역사회 연계·협력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원격교육지원센터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2.5 수업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백석정신아카데미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3.4 교원의 연구활동 및 성과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대학원교학처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4.4 교육시설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846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</a:rPr>
              <a:t>※ [붙임 4]에는 관련 부서로 지정되어 있으나 [붙임 5]에 부서별 세부 작성항목이 없는 부서입니다. 원격교육지원센터는 [붙임 5] 교수학습개발원 항목에 "원격수업 운영 현황(원격교육지원센터)"으로 기재되어 있습니다.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DD7EE"/>
                </a:solidFill>
              </a:rPr>
              <a:t>담당부서 추가·변경·삭제 의견은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기획처로 연락 바랍니다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al">
  <a:themeElements>
    <a:clrScheme name="Eval">
      <a:dk1>
        <a:srgbClr val="222222"/>
      </a:dk1>
      <a:lt1>
        <a:srgbClr val="FFFFFF"/>
      </a:lt1>
      <a:dk2>
        <a:srgbClr val="1F2A44"/>
      </a:dk2>
      <a:lt2>
        <a:srgbClr val="F2F4F8"/>
      </a:lt2>
      <a:accent1>
        <a:srgbClr val="1F4E79"/>
      </a:accent1>
      <a:accent2>
        <a:srgbClr val="375623"/>
      </a:accent2>
      <a:accent3>
        <a:srgbClr val="C55A11"/>
      </a:accent3>
      <a:accent4>
        <a:srgbClr val="5B4A8A"/>
      </a:accent4>
      <a:accent5>
        <a:srgbClr val="2E75B6"/>
      </a:accent5>
      <a:accent6>
        <a:srgbClr val="7F7F7F"/>
      </a:accent6>
      <a:hlink>
        <a:srgbClr val="2E75B6"/>
      </a:hlink>
      <a:folHlink>
        <a:srgbClr val="5B4A8A"/>
      </a:folHlink>
    </a:clrScheme>
    <a:fontScheme name="Eval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4주기 대학기관평가인증 평가준거별 담당부서 안내</dc:title>
  <dc:subject>PptxGenJS Presentation</dc:subject>
  <dc:creator>PptxGenJS</dc:creator>
  <cp:lastModifiedBy>PptxGenJS</cp:lastModifiedBy>
  <cp:revision>1</cp:revision>
  <dcterms:created xsi:type="dcterms:W3CDTF">2026-10-15T02:20:09Z</dcterms:created>
  <dcterms:modified xsi:type="dcterms:W3CDTF">2026-10-15T02:20:09Z</dcterms:modified>
</cp:coreProperties>
</file>