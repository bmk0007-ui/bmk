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구성비(%)</c:v>
                </c:pt>
              </c:strCache>
            </c:strRef>
          </c:tx>
          <c:spPr>
            <a:solidFill>
              <a:srgbClr val="3C9BE0"/>
            </a:solidFill>
          </c:spPr>
          <c:cat>
            <c:strRef>
              <c:f>Sheet1!$A$2:$A$6</c:f>
              <c:strCache>
                <c:ptCount val="5"/>
                <c:pt idx="0">
                  <c:v>’20년</c:v>
                </c:pt>
                <c:pt idx="1">
                  <c:v>’25년</c:v>
                </c:pt>
                <c:pt idx="2">
                  <c:v>’30년</c:v>
                </c:pt>
                <c:pt idx="3">
                  <c:v>’35년</c:v>
                </c:pt>
                <c:pt idx="4">
                  <c:v>’40년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17.9</c:v>
                </c:pt>
                <c:pt idx="1">
                  <c:v>22.4</c:v>
                </c:pt>
                <c:pt idx="2">
                  <c:v>27.2</c:v>
                </c:pt>
                <c:pt idx="3">
                  <c:v>31.7</c:v>
                </c:pt>
                <c:pt idx="4">
                  <c:v>36.4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>
                  <a:solidFill>
                    <a:srgbClr val="40404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800">
          <a:latin typeface="맑은 고딕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 인구(명)</c:v>
                </c:pt>
              </c:strCache>
            </c:strRef>
          </c:tx>
          <c:spPr>
            <a:solidFill>
              <a:srgbClr val="3C9BE0"/>
            </a:solidFill>
          </c:spPr>
          <c:cat>
            <c:strRef>
              <c:f>Sheet1!$A$2:$A$6</c:f>
              <c:strCache>
                <c:ptCount val="5"/>
                <c:pt idx="0">
                  <c:v>’18년</c:v>
                </c:pt>
                <c:pt idx="1">
                  <c:v>’19년</c:v>
                </c:pt>
                <c:pt idx="2">
                  <c:v>’20년</c:v>
                </c:pt>
                <c:pt idx="3">
                  <c:v>’21년</c:v>
                </c:pt>
                <c:pt idx="4">
                  <c:v>’22년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68234</c:v>
                </c:pt>
                <c:pt idx="1">
                  <c:v>70675</c:v>
                </c:pt>
                <c:pt idx="2">
                  <c:v>64546</c:v>
                </c:pt>
                <c:pt idx="3">
                  <c:v>62578</c:v>
                </c:pt>
                <c:pt idx="4">
                  <c:v>71159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>
                  <a:solidFill>
                    <a:srgbClr val="40404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2000.0"/>
          <c:min val="5800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2000.0"/>
      </c:valAx>
    </c:plotArea>
    <c:dispBlanksAs val="gap"/>
  </c:chart>
  <c:txPr>
    <a:bodyPr/>
    <a:lstStyle/>
    <a:p>
      <a:pPr>
        <a:defRPr sz="800">
          <a:latin typeface="맑은 고딕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2"/>
          <c:y val="0.02"/>
          <c:w val="0.96"/>
          <c:h val="0.9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지역별 비율(%)</c:v>
                </c:pt>
              </c:strCache>
            </c:strRef>
          </c:tx>
          <c:dPt>
            <c:idx val="0"/>
            <c:spPr>
              <a:solidFill>
                <a:srgbClr val="44546A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DEEBF7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9DC3E6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수도권</c:v>
                </c:pt>
                <c:pt idx="1">
                  <c:v>충청권</c:v>
                </c:pt>
                <c:pt idx="2">
                  <c:v>그외지역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70.3</c:v>
                </c:pt>
                <c:pt idx="1">
                  <c:v>15.9</c:v>
                </c:pt>
                <c:pt idx="2">
                  <c:v>13.8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0"/>
      </c:doughnutChart>
    </c:plotArea>
    <c:plotVisOnly val="1"/>
    <c:dispBlanksAs val="gap"/>
    <c:showDLblsOverMax val="0"/>
  </c:chart>
  <c:txPr>
    <a:bodyPr/>
    <a:lstStyle/>
    <a:p>
      <a:pPr>
        <a:defRPr sz="900">
          <a:latin typeface="맑은 고딕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슬라이드 20 막대그래프 원본 데이터 라벨 - 정원내 신입생 충원율: 백석대 100 / 전국 92.6, 재학생 충원율: 백석대 98.5 / 전국 104.1, 중도탈락률: 백석대 5.9 / 전국 7.0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.xml"/><Relationship Id="rId5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0" y="762000"/>
            <a:ext cx="5334000" cy="76200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ctr"/>
            <a:r>
              <a:rPr sz="440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440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3" name="Rectangle 2"/>
          <p:cNvSpPr/>
          <p:nvPr/>
        </p:nvSpPr>
        <p:spPr>
          <a:xfrm>
            <a:off x="2190750" y="1504950"/>
            <a:ext cx="1238250" cy="762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09950" y="1504950"/>
            <a:ext cx="3543300" cy="76200"/>
          </a:xfrm>
          <a:prstGeom prst="rect">
            <a:avLst/>
          </a:prstGeom>
          <a:gradFill rotWithShape="1">
            <a:gsLst>
              <a:gs pos="0">
                <a:srgbClr val="3C8FD6"/>
              </a:gs>
              <a:gs pos="100000">
                <a:srgbClr val="EAF2FB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2152650"/>
            <a:ext cx="4476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5638800"/>
            <a:ext cx="2171700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5750" y="419100"/>
            <a:ext cx="1905000" cy="285750"/>
          </a:xfrm>
          <a:prstGeom prst="rect">
            <a:avLst/>
          </a:prstGeom>
          <a:noFill/>
        </p:spPr>
        <p:txBody>
          <a:bodyPr wrap="square" lIns="19050" tIns="0" rIns="0" bIns="0" anchor="ctr"/>
          <a:lstStyle/>
          <a:p>
            <a:pPr algn="l"/>
            <a:r>
              <a:rPr sz="150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50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3" name="Rectangle 2"/>
          <p:cNvSpPr/>
          <p:nvPr/>
        </p:nvSpPr>
        <p:spPr>
          <a:xfrm>
            <a:off x="333375" y="695325"/>
            <a:ext cx="4762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0100" y="695325"/>
            <a:ext cx="1257300" cy="28575"/>
          </a:xfrm>
          <a:prstGeom prst="rect">
            <a:avLst/>
          </a:prstGeom>
          <a:gradFill rotWithShape="1">
            <a:gsLst>
              <a:gs pos="0">
                <a:srgbClr val="3C8FD6"/>
              </a:gs>
              <a:gs pos="100000">
                <a:srgbClr val="F0F6F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nip Single Corner Rectangle 4"/>
          <p:cNvSpPr/>
          <p:nvPr/>
        </p:nvSpPr>
        <p:spPr>
          <a:xfrm>
            <a:off x="323850" y="2819400"/>
            <a:ext cx="1143000" cy="1123950"/>
          </a:xfrm>
          <a:prstGeom prst="snip1Rect">
            <a:avLst>
              <a:gd name="adj" fmla="val 17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3850" y="3848100"/>
            <a:ext cx="1905000" cy="9525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0750" y="3848100"/>
            <a:ext cx="5429250" cy="95250"/>
          </a:xfrm>
          <a:prstGeom prst="rect">
            <a:avLst/>
          </a:prstGeom>
          <a:gradFill rotWithShape="1">
            <a:gsLst>
              <a:gs pos="0">
                <a:srgbClr val="3C8FD6"/>
              </a:gs>
              <a:gs pos="100000">
                <a:srgbClr val="EAF2FB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 flipH="1">
            <a:off x="1447800" y="3676650"/>
            <a:ext cx="762000" cy="171450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2952750"/>
            <a:ext cx="666750" cy="8572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ctr"/>
            <a:r>
              <a:rPr sz="4000" b="1" i="0" spc="-40">
                <a:solidFill>
                  <a:srgbClr val="E8E8E8"/>
                </a:solidFill>
                <a:latin typeface="Times New Roman"/>
                <a:ea typeface="Times New Roman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000375"/>
            <a:ext cx="6096000" cy="76200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3600" b="1" i="0" spc="-40">
                <a:solidFill>
                  <a:srgbClr val="0B2A5B"/>
                </a:solidFill>
                <a:latin typeface="맑은 고딕"/>
                <a:ea typeface="맑은 고딕"/>
              </a:rPr>
              <a:t>BU-VISION 2030 수립배경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외부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4857750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4762500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P: 정책 환경 분석 : </a:t>
            </a:r>
            <a:r>
              <a:rPr sz="1400" b="0" i="0" spc="-40">
                <a:solidFill>
                  <a:srgbClr val="FFFFFF"/>
                </a:solidFill>
                <a:latin typeface="맑은 고딕"/>
                <a:ea typeface="맑은 고딕"/>
              </a:rPr>
              <a:t>교육부 주요정책 및 추진 방향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rge 10"/>
          <p:cNvSpPr/>
          <p:nvPr/>
        </p:nvSpPr>
        <p:spPr>
          <a:xfrm>
            <a:off x="3143250" y="1866900"/>
            <a:ext cx="4476750" cy="228600"/>
          </a:xfrm>
          <a:prstGeom prst="flowChartMerge">
            <a:avLst/>
          </a:prstGeom>
          <a:solidFill>
            <a:srgbClr val="D3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erge 11"/>
          <p:cNvSpPr/>
          <p:nvPr/>
        </p:nvSpPr>
        <p:spPr>
          <a:xfrm>
            <a:off x="3143250" y="2438400"/>
            <a:ext cx="4476750" cy="228600"/>
          </a:xfrm>
          <a:prstGeom prst="flowChartMerge">
            <a:avLst/>
          </a:prstGeom>
          <a:solidFill>
            <a:srgbClr val="D3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erge 12"/>
          <p:cNvSpPr/>
          <p:nvPr/>
        </p:nvSpPr>
        <p:spPr>
          <a:xfrm>
            <a:off x="3143250" y="3019425"/>
            <a:ext cx="4476750" cy="228600"/>
          </a:xfrm>
          <a:prstGeom prst="flowChartMerge">
            <a:avLst/>
          </a:prstGeom>
          <a:solidFill>
            <a:srgbClr val="D3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8175" y="1504950"/>
            <a:ext cx="1543050" cy="3810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7F7F7F"/>
              </a:gs>
              <a:gs pos="100000">
                <a:srgbClr val="A6A6A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비    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175" y="2076450"/>
            <a:ext cx="1543050" cy="3810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7F7F7F"/>
              </a:gs>
              <a:gs pos="100000">
                <a:srgbClr val="A6A6A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목    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175" y="2657475"/>
            <a:ext cx="1543050" cy="3810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7F7F7F"/>
              </a:gs>
              <a:gs pos="100000">
                <a:srgbClr val="A6A6A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추진방향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175" y="3286125"/>
            <a:ext cx="1543050" cy="3810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7F7F7F"/>
              </a:gs>
              <a:gs pos="100000">
                <a:srgbClr val="A6A6A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중점과제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1495425"/>
            <a:ext cx="6219825" cy="381000"/>
          </a:xfrm>
          <a:prstGeom prst="rect">
            <a:avLst/>
          </a:prstGeom>
          <a:gradFill rotWithShape="1">
            <a:gsLst>
              <a:gs pos="0">
                <a:srgbClr val="164A86"/>
              </a:gs>
              <a:gs pos="100000">
                <a:srgbClr val="17A8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기회의 사다리가 되는 공정한 교육 실현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2076450"/>
            <a:ext cx="6219825" cy="3619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300" b="1" i="0" spc="-40">
                <a:solidFill>
                  <a:srgbClr val="1A1A1A"/>
                </a:solidFill>
                <a:latin typeface="맑은 고딕"/>
                <a:ea typeface="맑은 고딕"/>
              </a:rPr>
              <a:t>모두를 위한 맞춤교육으로 교육격차 해소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657475"/>
            <a:ext cx="6219825" cy="3619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300" b="1" i="0" spc="-40">
                <a:solidFill>
                  <a:srgbClr val="1A1A1A"/>
                </a:solidFill>
                <a:latin typeface="맑은 고딕"/>
                <a:ea typeface="맑은 고딕"/>
              </a:rPr>
              <a:t>대학개혁 통한 역동적 지방 시대 견인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286125"/>
            <a:ext cx="28575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525" tIns="0" rIns="9525" bIns="0"/>
          <a:lstStyle/>
          <a:p>
            <a:pPr algn="ctr"/>
            <a:r>
              <a:rPr sz="1200" b="1" i="0" spc="-40">
                <a:solidFill>
                  <a:srgbClr val="1A1A1A"/>
                </a:solidFill>
                <a:latin typeface="맑은 고딕"/>
                <a:ea typeface="맑은 고딕"/>
              </a:rPr>
              <a:t>지역-대학 동반성장 혁신 생태계 구축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9700" y="3286125"/>
            <a:ext cx="3286125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525" tIns="0" rIns="9525" bIns="0"/>
          <a:lstStyle/>
          <a:p>
            <a:pPr algn="ctr"/>
            <a:r>
              <a:rPr sz="1200" b="1" i="0" spc="-40">
                <a:solidFill>
                  <a:srgbClr val="1A1A1A"/>
                </a:solidFill>
                <a:latin typeface="맑은 고딕"/>
                <a:ea typeface="맑은 고딕"/>
              </a:rPr>
              <a:t>청년 성장과 지역혁신을 위한 기회와 투자 확대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650" y="4038600"/>
            <a:ext cx="523875" cy="23622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7F7F7F"/>
              </a:gs>
              <a:gs pos="100000">
                <a:srgbClr val="A6A6A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세부</a:t>
            </a:r>
          </a:p>
          <a:p>
            <a:pPr algn="ctr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  <a:p>
            <a:pPr algn="ctr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과제</a:t>
            </a:r>
          </a:p>
        </p:txBody>
      </p:sp>
      <p:sp>
        <p:nvSpPr>
          <p:cNvPr id="24" name="Rounded Rectangular Callout 23"/>
          <p:cNvSpPr/>
          <p:nvPr/>
        </p:nvSpPr>
        <p:spPr>
          <a:xfrm>
            <a:off x="1409700" y="4114800"/>
            <a:ext cx="1695450" cy="857250"/>
          </a:xfrm>
          <a:prstGeom prst="wedgeRoundRectCallout">
            <a:avLst>
              <a:gd name="adj1" fmla="val 56000"/>
              <a:gd name="adj2" fmla="val -12000"/>
              <a:gd name="adj3" fmla="val 16667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>
              <a:lnSpc>
                <a:spcPct val="110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대학 혁신 및</a:t>
            </a:r>
          </a:p>
          <a:p>
            <a:pPr algn="ctr">
              <a:lnSpc>
                <a:spcPct val="110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구조개혁 모델 창출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14550" y="4000500"/>
            <a:ext cx="285750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 spc="-40">
                <a:solidFill>
                  <a:srgbClr val="0B2A5B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19450" y="4019550"/>
            <a:ext cx="5295900" cy="10953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00500" y="4019550"/>
            <a:ext cx="4467225" cy="109537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15000"/>
              </a:lnSpc>
            </a:pPr>
            <a:r>
              <a:rPr sz="1100" b="1" i="0" spc="-40">
                <a:solidFill>
                  <a:srgbClr val="0B2A5B"/>
                </a:solidFill>
                <a:latin typeface="맑은 고딕"/>
                <a:ea typeface="맑은 고딕"/>
              </a:rPr>
              <a:t>▶ 대학·지역 협력 기반의 자율적 구조개혁 추진</a:t>
            </a:r>
          </a:p>
          <a:p>
            <a:pPr algn="l">
              <a:lnSpc>
                <a:spcPct val="115000"/>
              </a:lnSpc>
            </a:pPr>
            <a:r>
              <a:rPr sz="1100" b="0" i="0" spc="-40">
                <a:solidFill>
                  <a:srgbClr val="404040"/>
                </a:solidFill>
                <a:latin typeface="맑은 고딕"/>
                <a:ea typeface="맑은 고딕"/>
              </a:rPr>
              <a:t>→ RISE 체계와 연계한 지역혁신 거점대학 육성</a:t>
            </a:r>
          </a:p>
          <a:p>
            <a:pPr algn="l">
              <a:lnSpc>
                <a:spcPct val="115000"/>
              </a:lnSpc>
            </a:pPr>
            <a:r>
              <a:rPr sz="1100" b="0" i="0" spc="-40">
                <a:solidFill>
                  <a:srgbClr val="404040"/>
                </a:solidFill>
                <a:latin typeface="맑은 고딕"/>
                <a:ea typeface="맑은 고딕"/>
              </a:rPr>
              <a:t>→ 성과기반 재정지원 확대 및 자율·책임형 거버넌스 정립</a:t>
            </a:r>
          </a:p>
        </p:txBody>
      </p:sp>
      <p:sp>
        <p:nvSpPr>
          <p:cNvPr id="28" name="Rounded Rectangular Callout 27"/>
          <p:cNvSpPr/>
          <p:nvPr/>
        </p:nvSpPr>
        <p:spPr>
          <a:xfrm>
            <a:off x="1409700" y="5429250"/>
            <a:ext cx="1695450" cy="876300"/>
          </a:xfrm>
          <a:prstGeom prst="wedgeRoundRectCallout">
            <a:avLst>
              <a:gd name="adj1" fmla="val 56000"/>
              <a:gd name="adj2" fmla="val -12000"/>
              <a:gd name="adj3" fmla="val 16667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>
              <a:lnSpc>
                <a:spcPct val="110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지역혁신 연계</a:t>
            </a:r>
          </a:p>
          <a:p>
            <a:pPr algn="ctr">
              <a:lnSpc>
                <a:spcPct val="110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청년 성장 생태계 조성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14550" y="5314950"/>
            <a:ext cx="285750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 spc="-40">
                <a:solidFill>
                  <a:srgbClr val="0B2A5B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19450" y="5334000"/>
            <a:ext cx="5295900" cy="10763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00500" y="5334000"/>
            <a:ext cx="4467225" cy="10763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15000"/>
              </a:lnSpc>
            </a:pPr>
            <a:r>
              <a:rPr sz="1100" b="1" i="0" spc="-40">
                <a:solidFill>
                  <a:srgbClr val="0B2A5B"/>
                </a:solidFill>
                <a:latin typeface="맑은 고딕"/>
                <a:ea typeface="맑은 고딕"/>
              </a:rPr>
              <a:t>▶ 학문 간 경계 해소를 통한 융합형 인재양성 체계 구축</a:t>
            </a:r>
          </a:p>
          <a:p>
            <a:pPr algn="l">
              <a:lnSpc>
                <a:spcPct val="115000"/>
              </a:lnSpc>
            </a:pPr>
            <a:r>
              <a:rPr sz="1100" b="0" i="0" spc="-40">
                <a:solidFill>
                  <a:srgbClr val="404040"/>
                </a:solidFill>
                <a:latin typeface="맑은 고딕"/>
                <a:ea typeface="맑은 고딕"/>
              </a:rPr>
              <a:t>→ 전공 선택권 확대 및 자율전공 활성화</a:t>
            </a:r>
          </a:p>
          <a:p>
            <a:pPr algn="l">
              <a:lnSpc>
                <a:spcPct val="115000"/>
              </a:lnSpc>
            </a:pPr>
            <a:r>
              <a:rPr sz="1100" b="0" i="0" spc="-40">
                <a:solidFill>
                  <a:srgbClr val="404040"/>
                </a:solidFill>
                <a:latin typeface="맑은 고딕"/>
                <a:ea typeface="맑은 고딕"/>
              </a:rPr>
              <a:t>→ 제도 개선을 통한 대학 자율성 강화</a:t>
            </a:r>
          </a:p>
          <a:p>
            <a:pPr algn="l">
              <a:lnSpc>
                <a:spcPct val="115000"/>
              </a:lnSpc>
            </a:pPr>
            <a:r>
              <a:rPr sz="1100" b="0" i="0" spc="-40">
                <a:solidFill>
                  <a:srgbClr val="404040"/>
                </a:solidFill>
                <a:latin typeface="맑은 고딕"/>
                <a:ea typeface="맑은 고딕"/>
              </a:rPr>
              <a:t>→ 지역산업 연계형 청년 성장·정착 생태계 조성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외부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4857750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4762500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P: 정책 환경 분석 : </a:t>
            </a:r>
            <a:r>
              <a:rPr sz="1400" b="0" i="0" spc="-40">
                <a:solidFill>
                  <a:srgbClr val="FFFFFF"/>
                </a:solidFill>
                <a:latin typeface="맑은 고딕"/>
                <a:ea typeface="맑은 고딕"/>
              </a:rPr>
              <a:t>교육부 주요정책 및 추진 방향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8650" y="1476375"/>
            <a:ext cx="523875" cy="4924425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7F7F7F"/>
              </a:gs>
              <a:gs pos="100000">
                <a:srgbClr val="A6A6A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세부</a:t>
            </a:r>
          </a:p>
          <a:p>
            <a:pPr algn="ctr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  <a:p>
            <a:pPr algn="ctr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과제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1457325" y="1638300"/>
            <a:ext cx="1647825" cy="876300"/>
          </a:xfrm>
          <a:prstGeom prst="wedgeRoundRectCallout">
            <a:avLst>
              <a:gd name="adj1" fmla="val 56000"/>
              <a:gd name="adj2" fmla="val -12000"/>
              <a:gd name="adj3" fmla="val 16667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>
              <a:lnSpc>
                <a:spcPct val="110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AI·디지털 기반</a:t>
            </a:r>
          </a:p>
          <a:p>
            <a:pPr algn="ctr">
              <a:lnSpc>
                <a:spcPct val="110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첨단분야 인재양성</a:t>
            </a:r>
          </a:p>
          <a:p>
            <a:pPr algn="ctr">
              <a:lnSpc>
                <a:spcPct val="110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및 산학협력 강화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8362" y="1524000"/>
            <a:ext cx="285750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 spc="-40">
                <a:solidFill>
                  <a:srgbClr val="0B2A5B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5650" y="1504950"/>
            <a:ext cx="5305425" cy="10763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48125" y="1504950"/>
            <a:ext cx="4505325" cy="10763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15000"/>
              </a:lnSpc>
            </a:pPr>
            <a:r>
              <a:rPr sz="1100" b="1" i="0" spc="-40">
                <a:solidFill>
                  <a:srgbClr val="0B2A5B"/>
                </a:solidFill>
                <a:latin typeface="맑은 고딕"/>
                <a:ea typeface="맑은 고딕"/>
              </a:rPr>
              <a:t>▶ AI·디지털 전환 시대를 선도하는 첨단 인재양성 허브 구축</a:t>
            </a:r>
          </a:p>
          <a:p>
            <a:pPr algn="l">
              <a:lnSpc>
                <a:spcPct val="115000"/>
              </a:lnSpc>
            </a:pPr>
            <a:r>
              <a:rPr sz="1100" b="0" i="0" spc="-40">
                <a:solidFill>
                  <a:srgbClr val="404040"/>
                </a:solidFill>
                <a:latin typeface="맑은 고딕"/>
                <a:ea typeface="맑은 고딕"/>
              </a:rPr>
              <a:t>→ 첨단분야 인재양성 및 산학연계 교육과정 운영</a:t>
            </a:r>
          </a:p>
          <a:p>
            <a:pPr algn="l">
              <a:lnSpc>
                <a:spcPct val="115000"/>
              </a:lnSpc>
            </a:pPr>
            <a:r>
              <a:rPr sz="1100" b="0" i="0" spc="-40">
                <a:solidFill>
                  <a:srgbClr val="404040"/>
                </a:solidFill>
                <a:latin typeface="맑은 고딕"/>
                <a:ea typeface="맑은 고딕"/>
              </a:rPr>
              <a:t>→ 지역기업 수요 맞춤형 산학협력 플랫폼 강화</a:t>
            </a:r>
          </a:p>
          <a:p>
            <a:pPr algn="l">
              <a:lnSpc>
                <a:spcPct val="115000"/>
              </a:lnSpc>
            </a:pPr>
            <a:r>
              <a:rPr sz="1100" b="0" i="0" spc="-40">
                <a:solidFill>
                  <a:srgbClr val="404040"/>
                </a:solidFill>
                <a:latin typeface="맑은 고딕"/>
                <a:ea typeface="맑은 고딕"/>
              </a:rPr>
              <a:t>→ 주거·생활·학습 통합 지원(기숙사·장학금 등)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1457325" y="2924175"/>
            <a:ext cx="1647825" cy="876300"/>
          </a:xfrm>
          <a:prstGeom prst="wedgeRoundRectCallout">
            <a:avLst>
              <a:gd name="adj1" fmla="val 56000"/>
              <a:gd name="adj2" fmla="val -12000"/>
              <a:gd name="adj3" fmla="val 16667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>
              <a:lnSpc>
                <a:spcPct val="110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지역 기반</a:t>
            </a:r>
          </a:p>
          <a:p>
            <a:pPr algn="ctr">
              <a:lnSpc>
                <a:spcPct val="110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평생직업교육 혁신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38362" y="2809875"/>
            <a:ext cx="285750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 spc="-40">
                <a:solidFill>
                  <a:srgbClr val="0B2A5B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5650" y="2790825"/>
            <a:ext cx="5305425" cy="10763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8125" y="2790825"/>
            <a:ext cx="4505325" cy="10763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15000"/>
              </a:lnSpc>
            </a:pPr>
            <a:r>
              <a:rPr sz="1100" b="1" i="0" spc="-40">
                <a:solidFill>
                  <a:srgbClr val="0B2A5B"/>
                </a:solidFill>
                <a:latin typeface="맑은 고딕"/>
                <a:ea typeface="맑은 고딕"/>
              </a:rPr>
              <a:t>▶ 지역 평생직업교육 거점으로 기능 강화</a:t>
            </a:r>
          </a:p>
          <a:p>
            <a:pPr algn="l">
              <a:lnSpc>
                <a:spcPct val="115000"/>
              </a:lnSpc>
            </a:pPr>
            <a:r>
              <a:rPr sz="1100" b="0" i="0" spc="-40">
                <a:solidFill>
                  <a:srgbClr val="404040"/>
                </a:solidFill>
                <a:latin typeface="맑은 고딕"/>
                <a:ea typeface="맑은 고딕"/>
              </a:rPr>
              <a:t>→ 지역산업 수요 기반 직업·기술인력 양성 시스템 구축</a:t>
            </a:r>
          </a:p>
          <a:p>
            <a:pPr algn="l">
              <a:lnSpc>
                <a:spcPct val="115000"/>
              </a:lnSpc>
            </a:pPr>
            <a:r>
              <a:rPr sz="1100" b="0" i="0" spc="-40">
                <a:solidFill>
                  <a:srgbClr val="404040"/>
                </a:solidFill>
                <a:latin typeface="맑은 고딕"/>
                <a:ea typeface="맑은 고딕"/>
              </a:rPr>
              <a:t>→ 석·박사 연계형 산학협력 교육체제 운영</a:t>
            </a:r>
          </a:p>
          <a:p>
            <a:pPr algn="l">
              <a:lnSpc>
                <a:spcPct val="115000"/>
              </a:lnSpc>
            </a:pPr>
            <a:r>
              <a:rPr sz="1100" b="0" i="0" spc="-40">
                <a:solidFill>
                  <a:srgbClr val="404040"/>
                </a:solidFill>
                <a:latin typeface="맑은 고딕"/>
                <a:ea typeface="맑은 고딕"/>
              </a:rPr>
              <a:t>→ 실습·실험 중심 교육 인프라 고도화</a:t>
            </a:r>
          </a:p>
        </p:txBody>
      </p:sp>
      <p:sp>
        <p:nvSpPr>
          <p:cNvPr id="20" name="Rounded Rectangular Callout 19"/>
          <p:cNvSpPr/>
          <p:nvPr/>
        </p:nvSpPr>
        <p:spPr>
          <a:xfrm>
            <a:off x="1457325" y="4229100"/>
            <a:ext cx="1647825" cy="876300"/>
          </a:xfrm>
          <a:prstGeom prst="wedgeRoundRectCallout">
            <a:avLst>
              <a:gd name="adj1" fmla="val 56000"/>
              <a:gd name="adj2" fmla="val -12000"/>
              <a:gd name="adj3" fmla="val 16667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>
              <a:lnSpc>
                <a:spcPct val="110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청년을 위한</a:t>
            </a:r>
          </a:p>
          <a:p>
            <a:pPr algn="ctr">
              <a:lnSpc>
                <a:spcPct val="110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교육·고용·복지 통합</a:t>
            </a:r>
          </a:p>
          <a:p>
            <a:pPr algn="ctr">
              <a:lnSpc>
                <a:spcPct val="110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투자 확대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38362" y="4114800"/>
            <a:ext cx="285750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 spc="-40">
                <a:solidFill>
                  <a:srgbClr val="0B2A5B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5650" y="4095750"/>
            <a:ext cx="5305425" cy="10763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48125" y="4095750"/>
            <a:ext cx="4505325" cy="10763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15000"/>
              </a:lnSpc>
            </a:pPr>
            <a:r>
              <a:rPr sz="1100" b="1" i="0" spc="-40">
                <a:solidFill>
                  <a:srgbClr val="0B2A5B"/>
                </a:solidFill>
                <a:latin typeface="맑은 고딕"/>
                <a:ea typeface="맑은 고딕"/>
              </a:rPr>
              <a:t>▶ 대학을 중심으로 한 평생직업교육 허브화</a:t>
            </a:r>
          </a:p>
          <a:p>
            <a:pPr algn="l">
              <a:lnSpc>
                <a:spcPct val="115000"/>
              </a:lnSpc>
            </a:pPr>
            <a:r>
              <a:rPr sz="1100" b="0" i="0" spc="-40">
                <a:solidFill>
                  <a:srgbClr val="404040"/>
                </a:solidFill>
                <a:latin typeface="맑은 고딕"/>
                <a:ea typeface="맑은 고딕"/>
              </a:rPr>
              <a:t>→ 청년과 지역민이 함께 성장하는 포용적 교육복지 실현</a:t>
            </a:r>
          </a:p>
          <a:p>
            <a:pPr algn="l">
              <a:lnSpc>
                <a:spcPct val="115000"/>
              </a:lnSpc>
            </a:pPr>
            <a:r>
              <a:rPr sz="1100" b="0" i="0" spc="-40">
                <a:solidFill>
                  <a:srgbClr val="404040"/>
                </a:solidFill>
                <a:latin typeface="맑은 고딕"/>
                <a:ea typeface="맑은 고딕"/>
              </a:rPr>
              <a:t>→ 취약계층 대상 평생학습 및 고용연계 지원 강화</a:t>
            </a:r>
          </a:p>
          <a:p>
            <a:pPr algn="l">
              <a:lnSpc>
                <a:spcPct val="115000"/>
              </a:lnSpc>
            </a:pPr>
            <a:r>
              <a:rPr sz="1100" b="0" i="0" spc="-40">
                <a:solidFill>
                  <a:srgbClr val="404040"/>
                </a:solidFill>
                <a:latin typeface="맑은 고딕"/>
                <a:ea typeface="맑은 고딕"/>
              </a:rPr>
              <a:t>→ 교육·고용·복지 통합 지원체계 구축</a:t>
            </a:r>
          </a:p>
        </p:txBody>
      </p:sp>
      <p:sp>
        <p:nvSpPr>
          <p:cNvPr id="24" name="Rounded Rectangular Callout 23"/>
          <p:cNvSpPr/>
          <p:nvPr/>
        </p:nvSpPr>
        <p:spPr>
          <a:xfrm>
            <a:off x="1457325" y="5505450"/>
            <a:ext cx="1647825" cy="876300"/>
          </a:xfrm>
          <a:prstGeom prst="wedgeRoundRectCallout">
            <a:avLst>
              <a:gd name="adj1" fmla="val 56000"/>
              <a:gd name="adj2" fmla="val -12000"/>
              <a:gd name="adj3" fmla="val 16667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>
              <a:lnSpc>
                <a:spcPct val="110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지역연계형</a:t>
            </a:r>
          </a:p>
          <a:p>
            <a:pPr algn="ctr">
              <a:lnSpc>
                <a:spcPct val="110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글로벌 인재유치</a:t>
            </a:r>
          </a:p>
          <a:p>
            <a:pPr algn="ctr">
              <a:lnSpc>
                <a:spcPct val="110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전략 추진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8362" y="5391150"/>
            <a:ext cx="285750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 spc="-40">
                <a:solidFill>
                  <a:srgbClr val="0B2A5B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5650" y="5372100"/>
            <a:ext cx="5305425" cy="10763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48125" y="5372100"/>
            <a:ext cx="4505325" cy="10763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15000"/>
              </a:lnSpc>
            </a:pPr>
            <a:r>
              <a:rPr sz="1100" b="1" i="0" spc="-40">
                <a:solidFill>
                  <a:srgbClr val="0B2A5B"/>
                </a:solidFill>
                <a:latin typeface="맑은 고딕"/>
                <a:ea typeface="맑은 고딕"/>
              </a:rPr>
              <a:t>▶ 지역특화 해외인재 유치 및 지원체계 강화</a:t>
            </a:r>
          </a:p>
          <a:p>
            <a:pPr algn="l">
              <a:lnSpc>
                <a:spcPct val="115000"/>
              </a:lnSpc>
            </a:pPr>
            <a:r>
              <a:rPr sz="1100" b="0" i="0" spc="-40">
                <a:solidFill>
                  <a:srgbClr val="404040"/>
                </a:solidFill>
                <a:latin typeface="맑은 고딕"/>
                <a:ea typeface="맑은 고딕"/>
              </a:rPr>
              <a:t>→ 지자체-대학-기업 협력형 해외인재 유치 전략 추진</a:t>
            </a:r>
          </a:p>
          <a:p>
            <a:pPr algn="l">
              <a:lnSpc>
                <a:spcPct val="115000"/>
              </a:lnSpc>
            </a:pPr>
            <a:r>
              <a:rPr sz="1100" b="0" i="0" spc="-40">
                <a:solidFill>
                  <a:srgbClr val="404040"/>
                </a:solidFill>
                <a:latin typeface="맑은 고딕"/>
                <a:ea typeface="맑은 고딕"/>
              </a:rPr>
              <a:t>→ 유학생 대상 생활·언어·문화 적응 지원</a:t>
            </a:r>
          </a:p>
          <a:p>
            <a:pPr algn="l">
              <a:lnSpc>
                <a:spcPct val="115000"/>
              </a:lnSpc>
            </a:pPr>
            <a:r>
              <a:rPr sz="1100" b="0" i="0" spc="-40">
                <a:solidFill>
                  <a:srgbClr val="404040"/>
                </a:solidFill>
                <a:latin typeface="맑은 고딕"/>
                <a:ea typeface="맑은 고딕"/>
              </a:rPr>
              <a:t>→ 지역산업 연계형 인턴십·취업·창업 지원 확대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외부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1762125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1666875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P: 정책 환경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125" y="1495425"/>
            <a:ext cx="7905750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entagon 11"/>
          <p:cNvSpPr/>
          <p:nvPr/>
        </p:nvSpPr>
        <p:spPr>
          <a:xfrm>
            <a:off x="628650" y="1552575"/>
            <a:ext cx="809625" cy="295275"/>
          </a:xfrm>
          <a:prstGeom prst="homePlate">
            <a:avLst>
              <a:gd name="adj" fmla="val 35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200" b="1" i="0" spc="-40">
                <a:solidFill>
                  <a:srgbClr val="FFFFFF"/>
                </a:solidFill>
                <a:latin typeface="맑은 고딕"/>
                <a:ea typeface="맑은 고딕"/>
              </a:rPr>
              <a:t>목표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750" y="1495425"/>
            <a:ext cx="7048500" cy="40957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ctr"/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대학별 자율혁신 통한 체질 개선으로 창의융합형 인재 양성 및 지속가능한 고등교육 생태계 구축</a:t>
            </a:r>
          </a:p>
        </p:txBody>
      </p:sp>
      <p:sp>
        <p:nvSpPr>
          <p:cNvPr id="14" name="Oval 13"/>
          <p:cNvSpPr/>
          <p:nvPr/>
        </p:nvSpPr>
        <p:spPr>
          <a:xfrm>
            <a:off x="1066800" y="2838450"/>
            <a:ext cx="2457450" cy="2362200"/>
          </a:xfrm>
          <a:prstGeom prst="ellipse">
            <a:avLst/>
          </a:prstGeom>
          <a:noFill/>
          <a:ln w="12700">
            <a:solidFill>
              <a:srgbClr val="7F9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1638300" y="3276600"/>
            <a:ext cx="1219200" cy="1085850"/>
          </a:xfrm>
          <a:prstGeom prst="hexagon">
            <a:avLst>
              <a:gd name="adj" fmla="val 28000"/>
              <a:gd name="vf" fmla="val 115470"/>
            </a:avLst>
          </a:prstGeom>
          <a:solidFill>
            <a:srgbClr val="FFFFFF"/>
          </a:solidFill>
          <a:ln w="57150">
            <a:solidFill>
              <a:srgbClr val="0B2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1733550" y="3371850"/>
            <a:ext cx="1028700" cy="895350"/>
          </a:xfrm>
          <a:prstGeom prst="hexagon">
            <a:avLst>
              <a:gd name="adj" fmla="val 28000"/>
              <a:gd name="vf" fmla="val 115470"/>
            </a:avLst>
          </a:prstGeom>
          <a:solidFill>
            <a:srgbClr val="FFFFFF"/>
          </a:solidFill>
          <a:ln w="1270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 spc="-40">
                <a:solidFill>
                  <a:srgbClr val="0B2A5B"/>
                </a:solidFill>
                <a:latin typeface="맑은 고딕"/>
                <a:ea typeface="맑은 고딕"/>
              </a:rPr>
              <a:t>대학혁신</a:t>
            </a:r>
          </a:p>
          <a:p>
            <a:pPr algn="ctr"/>
            <a:r>
              <a:rPr sz="1200" b="1" i="0" spc="-40">
                <a:solidFill>
                  <a:srgbClr val="0B2A5B"/>
                </a:solidFill>
                <a:latin typeface="맑은 고딕"/>
                <a:ea typeface="맑은 고딕"/>
              </a:rPr>
              <a:t>지원사업</a:t>
            </a:r>
          </a:p>
          <a:p>
            <a:pPr algn="ctr"/>
            <a:r>
              <a:rPr sz="1200" b="1" i="0" spc="-40">
                <a:solidFill>
                  <a:srgbClr val="0B2A5B"/>
                </a:solidFill>
                <a:latin typeface="맑은 고딕"/>
                <a:ea typeface="맑은 고딕"/>
              </a:rPr>
              <a:t>('25~'27)</a:t>
            </a:r>
          </a:p>
        </p:txBody>
      </p:sp>
      <p:sp>
        <p:nvSpPr>
          <p:cNvPr id="17" name="Oval 16"/>
          <p:cNvSpPr/>
          <p:nvPr/>
        </p:nvSpPr>
        <p:spPr>
          <a:xfrm>
            <a:off x="1695450" y="2209800"/>
            <a:ext cx="1076325" cy="1076325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B2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 spc="-40">
                <a:solidFill>
                  <a:srgbClr val="0B2A5B"/>
                </a:solidFill>
                <a:latin typeface="맑은 고딕"/>
                <a:ea typeface="맑은 고딕"/>
              </a:rPr>
              <a:t>자율성과</a:t>
            </a:r>
          </a:p>
          <a:p>
            <a:pPr algn="ctr"/>
            <a:r>
              <a:rPr sz="1100" b="1" i="0" spc="-40">
                <a:solidFill>
                  <a:srgbClr val="0B2A5B"/>
                </a:solidFill>
                <a:latin typeface="맑은 고딕"/>
                <a:ea typeface="맑은 고딕"/>
              </a:rPr>
              <a:t>책무성의</a:t>
            </a:r>
          </a:p>
          <a:p>
            <a:pPr algn="ctr"/>
            <a:r>
              <a:rPr sz="1100" b="1" i="0" spc="-40">
                <a:solidFill>
                  <a:srgbClr val="0B2A5B"/>
                </a:solidFill>
                <a:latin typeface="맑은 고딕"/>
                <a:ea typeface="맑은 고딕"/>
              </a:rPr>
              <a:t>조화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924300"/>
            <a:ext cx="1076325" cy="1076325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B2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 spc="-40">
                <a:solidFill>
                  <a:srgbClr val="0B2A5B"/>
                </a:solidFill>
                <a:latin typeface="맑은 고딕"/>
                <a:ea typeface="맑은 고딕"/>
              </a:rPr>
              <a:t>미래사회</a:t>
            </a:r>
          </a:p>
          <a:p>
            <a:pPr algn="ctr"/>
            <a:r>
              <a:rPr sz="1100" b="1" i="0" spc="-40">
                <a:solidFill>
                  <a:srgbClr val="0B2A5B"/>
                </a:solidFill>
                <a:latin typeface="맑은 고딕"/>
                <a:ea typeface="맑은 고딕"/>
              </a:rPr>
              <a:t>대비</a:t>
            </a:r>
          </a:p>
          <a:p>
            <a:pPr algn="ctr"/>
            <a:r>
              <a:rPr sz="1100" b="1" i="0" spc="-40">
                <a:solidFill>
                  <a:srgbClr val="0B2A5B"/>
                </a:solidFill>
                <a:latin typeface="맑은 고딕"/>
                <a:ea typeface="맑은 고딕"/>
              </a:rPr>
              <a:t>교육혁신</a:t>
            </a:r>
          </a:p>
        </p:txBody>
      </p:sp>
      <p:sp>
        <p:nvSpPr>
          <p:cNvPr id="19" name="Oval 18"/>
          <p:cNvSpPr/>
          <p:nvPr/>
        </p:nvSpPr>
        <p:spPr>
          <a:xfrm>
            <a:off x="2857500" y="3924300"/>
            <a:ext cx="1076325" cy="1076325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B2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 spc="-40">
                <a:solidFill>
                  <a:srgbClr val="0B2A5B"/>
                </a:solidFill>
                <a:latin typeface="맑은 고딕"/>
                <a:ea typeface="맑은 고딕"/>
              </a:rPr>
              <a:t>적정 규모화</a:t>
            </a:r>
          </a:p>
          <a:p>
            <a:pPr algn="ctr"/>
            <a:r>
              <a:rPr sz="1100" b="1" i="0" spc="-40">
                <a:solidFill>
                  <a:srgbClr val="0B2A5B"/>
                </a:solidFill>
                <a:latin typeface="맑은 고딕"/>
                <a:ea typeface="맑은 고딕"/>
              </a:rPr>
              <a:t>통한 경쟁력</a:t>
            </a:r>
          </a:p>
          <a:p>
            <a:pPr algn="ctr"/>
            <a:r>
              <a:rPr sz="1100" b="1" i="0" spc="-40">
                <a:solidFill>
                  <a:srgbClr val="0B2A5B"/>
                </a:solidFill>
                <a:latin typeface="맑은 고딕"/>
                <a:ea typeface="맑은 고딕"/>
              </a:rPr>
              <a:t>강화</a:t>
            </a:r>
          </a:p>
        </p:txBody>
      </p:sp>
      <p:sp>
        <p:nvSpPr>
          <p:cNvPr id="20" name="Chevron 19"/>
          <p:cNvSpPr/>
          <p:nvPr/>
        </p:nvSpPr>
        <p:spPr>
          <a:xfrm>
            <a:off x="3924300" y="2971800"/>
            <a:ext cx="590550" cy="1333500"/>
          </a:xfrm>
          <a:prstGeom prst="chevron">
            <a:avLst>
              <a:gd name="adj" fmla="val 55000"/>
            </a:avLst>
          </a:prstGeom>
          <a:gradFill rotWithShape="1">
            <a:gsLst>
              <a:gs pos="0">
                <a:srgbClr val="BFBFBF"/>
              </a:gs>
              <a:gs pos="100000">
                <a:srgbClr val="F2F2F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591050" y="2667000"/>
            <a:ext cx="0" cy="2000250"/>
          </a:xfrm>
          <a:prstGeom prst="line">
            <a:avLst/>
          </a:prstGeom>
          <a:ln w="12700">
            <a:solidFill>
              <a:srgbClr val="1F3B7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91125" y="2257425"/>
            <a:ext cx="3333750" cy="81915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591050" y="2667000"/>
            <a:ext cx="142875" cy="0"/>
          </a:xfrm>
          <a:prstGeom prst="line">
            <a:avLst/>
          </a:prstGeom>
          <a:ln w="12700">
            <a:solidFill>
              <a:srgbClr val="1F3B7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552950" y="2628900"/>
            <a:ext cx="76200" cy="76200"/>
          </a:xfrm>
          <a:prstGeom prst="ellipse">
            <a:avLst/>
          </a:prstGeom>
          <a:solidFill>
            <a:srgbClr val="1F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entagon 24"/>
          <p:cNvSpPr/>
          <p:nvPr/>
        </p:nvSpPr>
        <p:spPr>
          <a:xfrm>
            <a:off x="4733925" y="2324100"/>
            <a:ext cx="857250" cy="704850"/>
          </a:xfrm>
          <a:prstGeom prst="homePlate">
            <a:avLst>
              <a:gd name="adj" fmla="val 20000"/>
            </a:avLst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76200" bIns="0"/>
          <a:lstStyle/>
          <a:p>
            <a:pPr algn="ctr">
              <a:lnSpc>
                <a:spcPct val="100000"/>
              </a:lnSpc>
            </a:pPr>
            <a:r>
              <a:rPr sz="1000" b="1" i="0" spc="-40">
                <a:solidFill>
                  <a:srgbClr val="FFFFFF"/>
                </a:solidFill>
                <a:latin typeface="맑은 고딕"/>
                <a:ea typeface="맑은 고딕"/>
              </a:rPr>
              <a:t>자율성과</a:t>
            </a:r>
          </a:p>
          <a:p>
            <a:pPr algn="ctr">
              <a:lnSpc>
                <a:spcPct val="100000"/>
              </a:lnSpc>
            </a:pPr>
            <a:r>
              <a:rPr sz="1000" b="1" i="0" spc="-40">
                <a:solidFill>
                  <a:srgbClr val="FFFFFF"/>
                </a:solidFill>
                <a:latin typeface="맑은 고딕"/>
                <a:ea typeface="맑은 고딕"/>
              </a:rPr>
              <a:t>책무성의</a:t>
            </a:r>
          </a:p>
          <a:p>
            <a:pPr algn="ctr">
              <a:lnSpc>
                <a:spcPct val="100000"/>
              </a:lnSpc>
            </a:pPr>
            <a:r>
              <a:rPr sz="1000" b="1" i="0" spc="-40">
                <a:solidFill>
                  <a:srgbClr val="FFFFFF"/>
                </a:solidFill>
                <a:latin typeface="맑은 고딕"/>
                <a:ea typeface="맑은 고딕"/>
              </a:rPr>
              <a:t>조화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9750" y="2257425"/>
            <a:ext cx="2905125" cy="819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· 대학별 혁신성과에 따른 성과기반 차등지원 체계</a:t>
            </a:r>
          </a:p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  강화사업비 집행 자율화</a:t>
            </a:r>
          </a:p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· 재정지원사업의 자율운영 및 성과관리 고도화 추진</a:t>
            </a:r>
          </a:p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· 대학의 자체평가·성과관리체계 확립 지원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91125" y="3209925"/>
            <a:ext cx="3333750" cy="81915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591050" y="3619500"/>
            <a:ext cx="142875" cy="0"/>
          </a:xfrm>
          <a:prstGeom prst="line">
            <a:avLst/>
          </a:prstGeom>
          <a:ln w="12700">
            <a:solidFill>
              <a:srgbClr val="1F3B7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552950" y="3581400"/>
            <a:ext cx="76200" cy="76200"/>
          </a:xfrm>
          <a:prstGeom prst="ellipse">
            <a:avLst/>
          </a:prstGeom>
          <a:solidFill>
            <a:srgbClr val="1F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entagon 29"/>
          <p:cNvSpPr/>
          <p:nvPr/>
        </p:nvSpPr>
        <p:spPr>
          <a:xfrm>
            <a:off x="4733925" y="3276600"/>
            <a:ext cx="857250" cy="704850"/>
          </a:xfrm>
          <a:prstGeom prst="homePlate">
            <a:avLst>
              <a:gd name="adj" fmla="val 20000"/>
            </a:avLst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76200" bIns="0"/>
          <a:lstStyle/>
          <a:p>
            <a:pPr algn="ctr">
              <a:lnSpc>
                <a:spcPct val="100000"/>
              </a:lnSpc>
            </a:pPr>
            <a:r>
              <a:rPr sz="1000" b="1" i="0" spc="-40">
                <a:solidFill>
                  <a:srgbClr val="FFFFFF"/>
                </a:solidFill>
                <a:latin typeface="맑은 고딕"/>
                <a:ea typeface="맑은 고딕"/>
              </a:rPr>
              <a:t>미래사회</a:t>
            </a:r>
          </a:p>
          <a:p>
            <a:pPr algn="ctr">
              <a:lnSpc>
                <a:spcPct val="100000"/>
              </a:lnSpc>
            </a:pPr>
            <a:r>
              <a:rPr sz="1000" b="1" i="0" spc="-40">
                <a:solidFill>
                  <a:srgbClr val="FFFFFF"/>
                </a:solidFill>
                <a:latin typeface="맑은 고딕"/>
                <a:ea typeface="맑은 고딕"/>
              </a:rPr>
              <a:t>대비</a:t>
            </a:r>
          </a:p>
          <a:p>
            <a:pPr algn="ctr">
              <a:lnSpc>
                <a:spcPct val="100000"/>
              </a:lnSpc>
            </a:pPr>
            <a:r>
              <a:rPr sz="1000" b="1" i="0" spc="-40">
                <a:solidFill>
                  <a:srgbClr val="FFFFFF"/>
                </a:solidFill>
                <a:latin typeface="맑은 고딕"/>
                <a:ea typeface="맑은 고딕"/>
              </a:rPr>
              <a:t>교육혁신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9750" y="3209925"/>
            <a:ext cx="2905125" cy="819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· AI·디지털 전환 대응 교육과정 및 학사구조 개편</a:t>
            </a:r>
          </a:p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· 융합형·현장맞춤형 인재양성 체계 강화</a:t>
            </a:r>
          </a:p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· 대학 중장기 발전계획 기반 자율혁신 로드맵 수립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91125" y="4162425"/>
            <a:ext cx="3333750" cy="81915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591050" y="4572000"/>
            <a:ext cx="142875" cy="0"/>
          </a:xfrm>
          <a:prstGeom prst="line">
            <a:avLst/>
          </a:prstGeom>
          <a:ln w="12700">
            <a:solidFill>
              <a:srgbClr val="1F3B7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552950" y="4533900"/>
            <a:ext cx="76200" cy="76200"/>
          </a:xfrm>
          <a:prstGeom prst="ellipse">
            <a:avLst/>
          </a:prstGeom>
          <a:solidFill>
            <a:srgbClr val="1F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entagon 34"/>
          <p:cNvSpPr/>
          <p:nvPr/>
        </p:nvSpPr>
        <p:spPr>
          <a:xfrm>
            <a:off x="4733925" y="4229100"/>
            <a:ext cx="857250" cy="704850"/>
          </a:xfrm>
          <a:prstGeom prst="homePlate">
            <a:avLst>
              <a:gd name="adj" fmla="val 20000"/>
            </a:avLst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76200" bIns="0"/>
          <a:lstStyle/>
          <a:p>
            <a:pPr algn="ctr">
              <a:lnSpc>
                <a:spcPct val="100000"/>
              </a:lnSpc>
            </a:pPr>
            <a:r>
              <a:rPr sz="1000" b="1" i="0" spc="-40">
                <a:solidFill>
                  <a:srgbClr val="FFFFFF"/>
                </a:solidFill>
                <a:latin typeface="맑은 고딕"/>
                <a:ea typeface="맑은 고딕"/>
              </a:rPr>
              <a:t>적정규모화</a:t>
            </a:r>
          </a:p>
          <a:p>
            <a:pPr algn="ctr">
              <a:lnSpc>
                <a:spcPct val="100000"/>
              </a:lnSpc>
            </a:pPr>
            <a:r>
              <a:rPr sz="1000" b="1" i="0" spc="-40">
                <a:solidFill>
                  <a:srgbClr val="FFFFFF"/>
                </a:solidFill>
                <a:latin typeface="맑은 고딕"/>
                <a:ea typeface="맑은 고딕"/>
              </a:rPr>
              <a:t>통한 경쟁력</a:t>
            </a:r>
          </a:p>
          <a:p>
            <a:pPr algn="ctr">
              <a:lnSpc>
                <a:spcPct val="100000"/>
              </a:lnSpc>
            </a:pPr>
            <a:r>
              <a:rPr sz="1000" b="1" i="0" spc="-40">
                <a:solidFill>
                  <a:srgbClr val="FFFFFF"/>
                </a:solidFill>
                <a:latin typeface="맑은 고딕"/>
                <a:ea typeface="맑은 고딕"/>
              </a:rPr>
              <a:t>강화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19750" y="4162425"/>
            <a:ext cx="2905125" cy="819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· 자발적 구조개선 및 적정규모화 노력 지원</a:t>
            </a:r>
          </a:p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· 지역혁신중심대학(RISE) 연계, 지역 거점대학 역할 강화</a:t>
            </a:r>
          </a:p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· 대학의 지속가능 경영체제 전환 및 인프라 효율화 추진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125" y="5505450"/>
            <a:ext cx="7905750" cy="933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295650" y="5295900"/>
            <a:ext cx="2095500" cy="285750"/>
          </a:xfrm>
          <a:prstGeom prst="roundRect">
            <a:avLst>
              <a:gd name="adj" fmla="val 3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250" b="1" i="0" spc="-40">
                <a:solidFill>
                  <a:srgbClr val="FFFFFF"/>
                </a:solidFill>
                <a:latin typeface="맑은 고딕"/>
                <a:ea typeface="맑은 고딕"/>
              </a:rPr>
              <a:t>혁신사업 기본운영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875" y="5619750"/>
            <a:ext cx="3619500" cy="76200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30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· 대학의 자율성과 책임성을 기반으로 한 성과중심 지원체계 구축</a:t>
            </a:r>
          </a:p>
          <a:p>
            <a:pPr algn="l">
              <a:lnSpc>
                <a:spcPct val="130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· 대학별 여건·발전단계에 맞는 자율혁신 지원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4375" y="5619750"/>
            <a:ext cx="3952875" cy="76200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20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· 자발적 적정규모화와 구조개선 유도를 통한 지속가능한 대학체제 확립</a:t>
            </a:r>
          </a:p>
          <a:p>
            <a:pPr algn="l">
              <a:lnSpc>
                <a:spcPct val="120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· AI·디지털·지역혁신(RISE)과의 연계 강화로 정책 간 시너지 창출</a:t>
            </a:r>
          </a:p>
          <a:p>
            <a:pPr algn="l">
              <a:lnSpc>
                <a:spcPct val="120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· 대학혁신 성과의 환류 및 확산체계 내실화 추진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외부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1885950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1790700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E: 경제 환경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125" y="1524000"/>
            <a:ext cx="3810000" cy="4333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nip Single Corner Rectangle 11"/>
          <p:cNvSpPr/>
          <p:nvPr/>
        </p:nvSpPr>
        <p:spPr>
          <a:xfrm>
            <a:off x="647700" y="1428750"/>
            <a:ext cx="1304925" cy="285750"/>
          </a:xfrm>
          <a:prstGeom prst="snip1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A0A0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거시경제 동향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3375" y="149542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1733550"/>
            <a:ext cx="3524250" cy="4048125"/>
          </a:xfrm>
          <a:prstGeom prst="rect">
            <a:avLst/>
          </a:prstGeom>
          <a:noFill/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경제성장률 0.9% 전망, 소비자 물가 2.1% 전망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수출 부진과 내수 둔화로 성장세 약화되나,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완화적 통화정책이 경기 하방을 완충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완화적 통화정책 지속, 환율 1,450원대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금리 인하 기조가 자금시장 안정에 기여하나,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대외금리 격차로 환율 불안 가능성 상존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고금리·고부채 여건 속 내수 회복 더딤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가계부채 부담이 소비여력을 제약하고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설비·건설투자 부진이 내수 확장에 한계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수출 회복세 둔화, 소비심리 개선 미약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반도체는 회복세지만 비(非)품목 부진, 실질임금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감소로 소비 회복 속도 더딤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글로벌 무역갈등·지정학 리스크 지속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미·중 갈등, 중동 분쟁 등으로 공급망 불확실성과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수출 변동성 확대</a:t>
            </a:r>
          </a:p>
        </p:txBody>
      </p:sp>
      <p:sp>
        <p:nvSpPr>
          <p:cNvPr id="15" name="Merge 14"/>
          <p:cNvSpPr/>
          <p:nvPr/>
        </p:nvSpPr>
        <p:spPr>
          <a:xfrm>
            <a:off x="2333625" y="5867400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125" y="5981700"/>
            <a:ext cx="3810000" cy="542925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76200" bIns="0"/>
          <a:lstStyle/>
          <a:p>
            <a:pPr algn="ctr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경기 둔화와 재정 긴축은 대학 재정여력 약화 및</a:t>
            </a:r>
          </a:p>
          <a:p>
            <a:pPr algn="ctr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정부사업 의존도 심화로 이어질 가능성이 높음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4875" y="1524000"/>
            <a:ext cx="3790950" cy="4333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nip Single Corner Rectangle 17"/>
          <p:cNvSpPr/>
          <p:nvPr/>
        </p:nvSpPr>
        <p:spPr>
          <a:xfrm>
            <a:off x="4743450" y="1428750"/>
            <a:ext cx="1304925" cy="285750"/>
          </a:xfrm>
          <a:prstGeom prst="snip1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A0A0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산업환경 변화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0075" y="149542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4425" y="1733550"/>
            <a:ext cx="3505200" cy="4048125"/>
          </a:xfrm>
          <a:prstGeom prst="rect">
            <a:avLst/>
          </a:prstGeom>
          <a:noFill/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반도체·조선 호조, 철강·자동차 둔화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글로벌 경기 둔화에도 반도체·조선은 견조하나,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내수 둔화로 철강·자동차는 생산 부진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AI·디지털 산업 중심으로 산업구조 재편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산업 전반의 자동화·AI 융합이 가속화되며,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신산업·서비스 산업 중심으로 재편 중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서비스업 내 ICT·물류 성장, 도소매·숙박 부진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ICT·물류 부문은 성장세를 이어가나,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도소매·숙박·음식업 등은 소비 위축으로 부진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지역산업 침체와 수도권 집중 지속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지방 제조업의 투자 위축과 인력 이탈이 심화되며,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수도권 기술·산업 집중 가속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제조업 내 탄소중립·에너지 효율화 추진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ESG 경영 확산과 탄소감축 규제로 친환경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공정·클린테크 투자가 확대되는 추세</a:t>
            </a:r>
          </a:p>
        </p:txBody>
      </p:sp>
      <p:sp>
        <p:nvSpPr>
          <p:cNvPr id="21" name="Merge 20"/>
          <p:cNvSpPr/>
          <p:nvPr/>
        </p:nvSpPr>
        <p:spPr>
          <a:xfrm>
            <a:off x="6419850" y="5867400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14875" y="5981700"/>
            <a:ext cx="3790950" cy="542925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76200" bIns="0"/>
          <a:lstStyle/>
          <a:p>
            <a:pPr algn="ctr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산업구조 전환은 대학의 전공개편·산학협력 확대뿐 아니라,</a:t>
            </a:r>
          </a:p>
          <a:p>
            <a:pPr algn="ctr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지역산업 맞춤형 인재양성과 평생직업교육 강화를 요구함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750" y="6696075"/>
            <a:ext cx="8572500" cy="152400"/>
          </a:xfrm>
          <a:prstGeom prst="rect">
            <a:avLst/>
          </a:prstGeom>
          <a:noFill/>
        </p:spPr>
        <p:txBody>
          <a:bodyPr wrap="square" lIns="19050" tIns="0" rIns="0" bIns="0" anchor="ctr"/>
          <a:lstStyle/>
          <a:p>
            <a:pPr algn="l"/>
            <a:r>
              <a:rPr sz="650" b="0" i="0" spc="-40">
                <a:solidFill>
                  <a:srgbClr val="7F7F7F"/>
                </a:solidFill>
                <a:latin typeface="맑은 고딕"/>
                <a:ea typeface="맑은 고딕"/>
              </a:rPr>
              <a:t>출처: IBK 경제연구소(2025). 2025 하반기 경제환경 전망; 한국은행(2025). 경제전망보고서.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외부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1885950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1790700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E: 경제 환경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125" y="1524000"/>
            <a:ext cx="3810000" cy="4333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nip Single Corner Rectangle 11"/>
          <p:cNvSpPr/>
          <p:nvPr/>
        </p:nvSpPr>
        <p:spPr>
          <a:xfrm>
            <a:off x="647700" y="1428750"/>
            <a:ext cx="1304925" cy="285750"/>
          </a:xfrm>
          <a:prstGeom prst="snip1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A0A0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중소기업환경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3375" y="149542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1733550"/>
            <a:ext cx="3524250" cy="4048125"/>
          </a:xfrm>
          <a:prstGeom prst="rect">
            <a:avLst/>
          </a:prstGeom>
          <a:noFill/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수출 둔화·내수 침체로 중소기업 자금난 지속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원자재비와 금리 부담이 겹치며 중소기업의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유동성 악화, 자금조달 여건이 악화됨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원자재·인건비 상승으로 경영압박 심화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제조·서비스업 전반에서 채산성이 악화되고,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중소기업의 경영안정성이 흔들림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비정규직·단시간 근로 확대, 고용 질 악화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비용 절감을 위한 단시간·비정규직 고용 증가로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근로환경 불안정과 생산성 저하 우려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정책금융 중심의 단기 유동성 지원 지속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정부의 대출·보증지원은 단기 유동성엔 도움이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되지만, 구조개선 효과는 제한적임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대기업과의 기술격차 및 시장양극화 심화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대기업 중심의 회복세 속에 중소기업은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기술력·인력 부족으로 경쟁력 격차가 확대됨</a:t>
            </a:r>
          </a:p>
        </p:txBody>
      </p:sp>
      <p:sp>
        <p:nvSpPr>
          <p:cNvPr id="15" name="Merge 14"/>
          <p:cNvSpPr/>
          <p:nvPr/>
        </p:nvSpPr>
        <p:spPr>
          <a:xfrm>
            <a:off x="2333625" y="5867400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125" y="5981700"/>
            <a:ext cx="3810000" cy="542925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0" tIns="0" rIns="76200" bIns="0"/>
          <a:lstStyle/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중소기업의 위축은 산학협력 수요 감소로 이어지지만,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지역 기술·인력 양성 중심의  공동기술개발 및 인력양성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모델로 전환할 기회로 작용함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4875" y="1524000"/>
            <a:ext cx="3790950" cy="4333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nip Single Corner Rectangle 17"/>
          <p:cNvSpPr/>
          <p:nvPr/>
        </p:nvSpPr>
        <p:spPr>
          <a:xfrm>
            <a:off x="4743450" y="1428750"/>
            <a:ext cx="1304925" cy="285750"/>
          </a:xfrm>
          <a:prstGeom prst="snip1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A0A0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금융·재정환경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0075" y="149542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4425" y="1733550"/>
            <a:ext cx="3505200" cy="4048125"/>
          </a:xfrm>
          <a:prstGeom prst="rect">
            <a:avLst/>
          </a:prstGeom>
          <a:noFill/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기준금리 완만 인하, 물가 안정세 지속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한국은행의 점진적 금리 인하로 금융비용 부담이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완화되지만, 고금리 여파로 투자 회복 속도는 더딤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정부 재정여력 한계, 교육·R&amp;D 예산 조정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세수 둔화로 확장재정이 어려워지며,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고등교육·연구개발 예산 일부 조정 가능성 확대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민간투자·기업심리 회복 제한적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대외 불확실성과 내수 둔화로 기업 투자심리가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약세를 보이며, 민간자본의 신규 투자 위축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글로벌 금융시장 불확실성 지속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미국 통화정책 변화와 지정학 리스크로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자본유출입 변동이 확대, 환율 불안 요인 잠재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재정건전성 강화 기조 속 지자체 재정여력 약화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지방세수 감소와 국비 의존 심화로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지역대학·지자체 협력사업의 재원 확보 어려움</a:t>
            </a:r>
          </a:p>
        </p:txBody>
      </p:sp>
      <p:sp>
        <p:nvSpPr>
          <p:cNvPr id="21" name="Merge 20"/>
          <p:cNvSpPr/>
          <p:nvPr/>
        </p:nvSpPr>
        <p:spPr>
          <a:xfrm>
            <a:off x="6419850" y="5867400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14875" y="5981700"/>
            <a:ext cx="3790950" cy="542925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0" tIns="0" rIns="76200" bIns="0"/>
          <a:lstStyle/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정부와 지자체의 재정여력 한계 속에서 대학은 재정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다변화와 산학협력형 투자 생태계 구축을 통해 지속가능한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재정 구조를 확보해야 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750" y="6696075"/>
            <a:ext cx="8572500" cy="152400"/>
          </a:xfrm>
          <a:prstGeom prst="rect">
            <a:avLst/>
          </a:prstGeom>
          <a:noFill/>
        </p:spPr>
        <p:txBody>
          <a:bodyPr wrap="square" lIns="19050" tIns="0" rIns="0" bIns="0" anchor="ctr"/>
          <a:lstStyle/>
          <a:p>
            <a:pPr algn="l"/>
            <a:r>
              <a:rPr sz="650" b="0" i="0" spc="-40">
                <a:solidFill>
                  <a:srgbClr val="7F7F7F"/>
                </a:solidFill>
                <a:latin typeface="맑은 고딕"/>
                <a:ea typeface="맑은 고딕"/>
              </a:rPr>
              <a:t>출처: IBK 경제연구소(2025). 2025 하반기 경제환경 전망; 한국은행(2025). 경제전망보고서.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외부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2209800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2114550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S: 사회문화 환경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125" y="1524000"/>
            <a:ext cx="3810000" cy="4333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nip Single Corner Rectangle 11"/>
          <p:cNvSpPr/>
          <p:nvPr/>
        </p:nvSpPr>
        <p:spPr>
          <a:xfrm>
            <a:off x="647700" y="1428750"/>
            <a:ext cx="1304925" cy="285750"/>
          </a:xfrm>
          <a:prstGeom prst="snip1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A0A0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인구 분야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3375" y="149542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1733550"/>
            <a:ext cx="3524250" cy="40481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12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총인구 감소 및 고령화 가속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2020년 5,183만 명 정점 후 감소세 지속,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65세 이상 인구 18.6% 진입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초저출산 현상 심화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2023년 합계출산율 0.72명, 모든 시도 1.0명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미만. 출생아 23만 명, 사망자 34만 명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국내 인구 이동 변화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수도권 인구 50.2%, 비수도권 순유출 지속.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20~30대 이동자 비중 44.9%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국제 인구이동 추세 전환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외국인 비중 3.7%, 유학생·이민자 증가로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다문화사회 진입 가속</a:t>
            </a:r>
          </a:p>
        </p:txBody>
      </p:sp>
      <p:sp>
        <p:nvSpPr>
          <p:cNvPr id="15" name="Merge 14"/>
          <p:cNvSpPr/>
          <p:nvPr/>
        </p:nvSpPr>
        <p:spPr>
          <a:xfrm>
            <a:off x="2333625" y="5867400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125" y="5981700"/>
            <a:ext cx="3810000" cy="542925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0" tIns="0" rIns="76200" bIns="0"/>
          <a:lstStyle/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저출산·고령화와 인구이동 구조 변화로 학령인구가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급감하고 지역 간 불균형이 심화되며, 대학은 평생학습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·국제화·지역연계형 교육체계로의 전환이 요구됨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4875" y="1524000"/>
            <a:ext cx="3790950" cy="4333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nip Single Corner Rectangle 17"/>
          <p:cNvSpPr/>
          <p:nvPr/>
        </p:nvSpPr>
        <p:spPr>
          <a:xfrm>
            <a:off x="4743450" y="1428750"/>
            <a:ext cx="1304925" cy="285750"/>
          </a:xfrm>
          <a:prstGeom prst="snip1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A0A0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보건 분야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0075" y="149542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4425" y="1733550"/>
            <a:ext cx="3505200" cy="4048125"/>
          </a:xfrm>
          <a:prstGeom prst="rect">
            <a:avLst/>
          </a:prstGeom>
          <a:noFill/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기대수명 변화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평균수명 83.6세, 건강수명 66.9세로 격차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16.7년. 고령층 건강·복지 수요 급증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만성질환 증가 및 사망률 현황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노인 64%가 2개 이상 만성질환, 다약제 복용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40%↑. 비만·당뇨·심혈관 질환 주요 사망원인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정신건강 및 사회심리적 문제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청년층 우울·불안 증가, 가족돌봄청년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60% 이상 우울 수준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기후변화와 건강영향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폭염·미세먼지로 질병위험 증가,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식품안보·영양 불균형 확대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의료인력 수급 및 지역격차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지방 의료인력 부족, 간호인력 이탈률 상승.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보건의료 불균형 지속</a:t>
            </a:r>
          </a:p>
        </p:txBody>
      </p:sp>
      <p:sp>
        <p:nvSpPr>
          <p:cNvPr id="21" name="Merge 20"/>
          <p:cNvSpPr/>
          <p:nvPr/>
        </p:nvSpPr>
        <p:spPr>
          <a:xfrm>
            <a:off x="6419850" y="5867400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14875" y="5981700"/>
            <a:ext cx="3790950" cy="542925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0" tIns="0" rIns="76200" bIns="0"/>
          <a:lstStyle/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고령화·만성질환·정신건강·기후·인력 불균형 등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복합 보건 이슈는 대학의 보건·복지·환경 융합교육과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지역 의료인력 양성 강화를 요구함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750" y="6696075"/>
            <a:ext cx="8572500" cy="152400"/>
          </a:xfrm>
          <a:prstGeom prst="rect">
            <a:avLst/>
          </a:prstGeom>
          <a:noFill/>
        </p:spPr>
        <p:txBody>
          <a:bodyPr wrap="square" lIns="19050" tIns="0" rIns="0" bIns="0" anchor="ctr"/>
          <a:lstStyle/>
          <a:p>
            <a:pPr algn="l"/>
            <a:r>
              <a:rPr sz="650" b="0" i="0" spc="-40">
                <a:solidFill>
                  <a:srgbClr val="7F7F7F"/>
                </a:solidFill>
                <a:latin typeface="맑은 고딕"/>
                <a:ea typeface="맑은 고딕"/>
              </a:rPr>
              <a:t>출처: 국가통계연구원(2024). 한국의 사회 동향 1,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외부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2209800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2114550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S: 사회문화 환경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125" y="1524000"/>
            <a:ext cx="3810000" cy="4333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nip Single Corner Rectangle 11"/>
          <p:cNvSpPr/>
          <p:nvPr/>
        </p:nvSpPr>
        <p:spPr>
          <a:xfrm>
            <a:off x="647700" y="1428750"/>
            <a:ext cx="1304925" cy="285750"/>
          </a:xfrm>
          <a:prstGeom prst="snip1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A0A0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교육 분야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3375" y="149542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1733550"/>
            <a:ext cx="3524250" cy="4048125"/>
          </a:xfrm>
          <a:prstGeom prst="rect">
            <a:avLst/>
          </a:prstGeom>
          <a:noFill/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학령인구 감소와 고등교육 수요 축소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저출산으로 대학 입학 연령층 급감, 지방대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충원율 하락 지속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교육투자와 재정여건 변화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공교육비는 증가하지만 고등교육 투자율은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OECD 평균 미달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교육환경 만족도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학생 만족도는 상승, 학부모 만족도는 OECD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평균보다 낮음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학업성과 및 교육 경쟁력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한국 학생 학업성취도 OECD 상위권, 과도한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경쟁은 여전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고등교육의 노동시장 연결성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졸업자 취업률 69.6%, 임금수준은 OECD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평균보다 낮음</a:t>
            </a:r>
          </a:p>
        </p:txBody>
      </p:sp>
      <p:sp>
        <p:nvSpPr>
          <p:cNvPr id="15" name="Merge 14"/>
          <p:cNvSpPr/>
          <p:nvPr/>
        </p:nvSpPr>
        <p:spPr>
          <a:xfrm>
            <a:off x="2333625" y="5867400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125" y="5981700"/>
            <a:ext cx="3810000" cy="542925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0" tIns="0" rIns="76200" bIns="0"/>
          <a:lstStyle/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학령인구 감소와 교육투자 한계 속에서, 대학은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품질·고용·재정 연계 중심의 교육혁신 체제로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전환해야 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4875" y="1524000"/>
            <a:ext cx="3790950" cy="4333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nip Single Corner Rectangle 17"/>
          <p:cNvSpPr/>
          <p:nvPr/>
        </p:nvSpPr>
        <p:spPr>
          <a:xfrm>
            <a:off x="4743450" y="1428750"/>
            <a:ext cx="1304925" cy="285750"/>
          </a:xfrm>
          <a:prstGeom prst="snip1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A0A0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노동 분야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0075" y="149542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4425" y="1733550"/>
            <a:ext cx="3505200" cy="4048125"/>
          </a:xfrm>
          <a:prstGeom prst="rect">
            <a:avLst/>
          </a:prstGeom>
          <a:noFill/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노동시장 안정성과 고용 동향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거시경제 불안 속에서도 고용률은 안정세를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유지, 2024년 실업률 3%대 안정적 수준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경제활동 참가율 및 구조 변화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전체 64.7%, 남성 72.9%, 여성 56.8%. 30대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여성 고용률 상승, 30~40대 남성은 정체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비정규직·단시간 근로 확대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비정규직 비율과 초단시간 근로자 모두 증가,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고용의 질 저하 우려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실질임금 둔화 및 임금격차 지속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실질임금 상승률이 물가에 미달, 비정규직·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성별 임금격차는 완화되지 않음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노사관계 및 일터 환경 변화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2023년 노사분규 100건 증가, 근로손실일수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확대. 노동권 인식과 조직화 확대 추세</a:t>
            </a:r>
          </a:p>
        </p:txBody>
      </p:sp>
      <p:sp>
        <p:nvSpPr>
          <p:cNvPr id="21" name="Merge 20"/>
          <p:cNvSpPr/>
          <p:nvPr/>
        </p:nvSpPr>
        <p:spPr>
          <a:xfrm>
            <a:off x="6419850" y="5867400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14875" y="5981700"/>
            <a:ext cx="3790950" cy="542925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0" tIns="0" rIns="76200" bIns="0"/>
          <a:lstStyle/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고용 안정세 속 비정규직 확대, 임금 정체, 노동구조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변화가 지속되며, 대학은 직업전환·산업연계·노동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윤리교육 중심의 인재양성체계를 강화해야 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750" y="6696075"/>
            <a:ext cx="8572500" cy="152400"/>
          </a:xfrm>
          <a:prstGeom prst="rect">
            <a:avLst/>
          </a:prstGeom>
          <a:noFill/>
        </p:spPr>
        <p:txBody>
          <a:bodyPr wrap="square" lIns="19050" tIns="0" rIns="0" bIns="0" anchor="ctr"/>
          <a:lstStyle/>
          <a:p>
            <a:pPr algn="l"/>
            <a:r>
              <a:rPr sz="650" b="0" i="0" spc="-40">
                <a:solidFill>
                  <a:srgbClr val="7F7F7F"/>
                </a:solidFill>
                <a:latin typeface="맑은 고딕"/>
                <a:ea typeface="맑은 고딕"/>
              </a:rPr>
              <a:t>출처: 국가통계연구원(2024). 한국의 사회 동향 1, 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외부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2209800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2114550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S: 사회문화 환경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125" y="1524000"/>
            <a:ext cx="3810000" cy="4333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nip Single Corner Rectangle 11"/>
          <p:cNvSpPr/>
          <p:nvPr/>
        </p:nvSpPr>
        <p:spPr>
          <a:xfrm>
            <a:off x="647700" y="1428750"/>
            <a:ext cx="1304925" cy="285750"/>
          </a:xfrm>
          <a:prstGeom prst="snip1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A0A0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여가 분야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3375" y="149542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1733550"/>
            <a:ext cx="3524250" cy="4048125"/>
          </a:xfrm>
          <a:prstGeom prst="rect">
            <a:avLst/>
          </a:prstGeom>
          <a:noFill/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여가활동 트렌드 변화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비활동적 여가(TV 시청) 중심에서 활동적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여가(산책·등산 등)로 점진적 전환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여가시간 및 소비 수준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평일 3.5시간, 월평균 21.4만 원으로 증가,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여가소비 확대 추세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여가만족도와 행복도 차이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활동적 여가 참여자일수록 행복도 높음, 단조로운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여가일수록 낮음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세대·성별별 여가 격차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여성·중장년층의 여가참여 및 사회적 지지 부족,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외로움 인식률 높음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여가의 사회적 확장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문화콘텐츠, 지역커뮤니티, 공동체 여가활동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확산 필요</a:t>
            </a:r>
          </a:p>
        </p:txBody>
      </p:sp>
      <p:sp>
        <p:nvSpPr>
          <p:cNvPr id="15" name="Merge 14"/>
          <p:cNvSpPr/>
          <p:nvPr/>
        </p:nvSpPr>
        <p:spPr>
          <a:xfrm>
            <a:off x="2333625" y="5867400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125" y="5981700"/>
            <a:ext cx="3810000" cy="542925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0" tIns="0" rIns="76200" bIns="0"/>
          <a:lstStyle/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여가의 다변화와 문화·공동체 확장은 대학이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문화예술교육·정서지원·지역연계형 캠퍼스문화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혁신을 추진해야 함을 시사함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4875" y="1524000"/>
            <a:ext cx="3790950" cy="4333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nip Single Corner Rectangle 17"/>
          <p:cNvSpPr/>
          <p:nvPr/>
        </p:nvSpPr>
        <p:spPr>
          <a:xfrm>
            <a:off x="4743450" y="1428750"/>
            <a:ext cx="1304925" cy="285750"/>
          </a:xfrm>
          <a:prstGeom prst="snip1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A0A0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삶의 질 분야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0075" y="149542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4425" y="1733550"/>
            <a:ext cx="3505200" cy="4048125"/>
          </a:xfrm>
          <a:prstGeom prst="rect">
            <a:avLst/>
          </a:prstGeom>
          <a:noFill/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삶의 만족도와 행복감 변화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2013~2022년 상승세 지속, 2023년 소폭 하락.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행복감은 유지되나 불안·우울감 완화 추세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연령·성별·사회경제적 차이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2030과 4050 간 격차는 축소되었으나,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60대 이상과의 격차는 지속.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학력·소득에 따른 차이도 유지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사회적 요인과 웰빙 영향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사회적 지지 부족, 선택의 자유 결여, 미래 전망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부정적일수록 삶의 만족도 하락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국제 비교 및 세대별 특성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한국의 웰빙은 경제수준 대비 낮으며, 청년층은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높고 베이비붐·노년층은 낮음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사회적 신뢰와 공동체 인식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2사회적 신뢰·이웃관계 약화, 외로움 인식률 상승</a:t>
            </a:r>
          </a:p>
        </p:txBody>
      </p:sp>
      <p:sp>
        <p:nvSpPr>
          <p:cNvPr id="21" name="Merge 20"/>
          <p:cNvSpPr/>
          <p:nvPr/>
        </p:nvSpPr>
        <p:spPr>
          <a:xfrm>
            <a:off x="6419850" y="5867400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14875" y="5981700"/>
            <a:ext cx="3790950" cy="542925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0" tIns="0" rIns="76200" bIns="0"/>
          <a:lstStyle/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삶의 질은 전반적으로 향상되고 있으나 세대·사회적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격차와 공동체 해체가 병존하며,대학은 정서·공동체·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세대포용 중심의 캠퍼스 문화 혁신을 추진해야 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750" y="6696075"/>
            <a:ext cx="8572500" cy="152400"/>
          </a:xfrm>
          <a:prstGeom prst="rect">
            <a:avLst/>
          </a:prstGeom>
          <a:noFill/>
        </p:spPr>
        <p:txBody>
          <a:bodyPr wrap="square" lIns="19050" tIns="0" rIns="0" bIns="0" anchor="ctr"/>
          <a:lstStyle/>
          <a:p>
            <a:pPr algn="l"/>
            <a:r>
              <a:rPr sz="650" b="0" i="0" spc="-40">
                <a:solidFill>
                  <a:srgbClr val="7F7F7F"/>
                </a:solidFill>
                <a:latin typeface="맑은 고딕"/>
                <a:ea typeface="맑은 고딕"/>
              </a:rPr>
              <a:t>출처: 국가통계연구원(2024). 한국의 사회 동향 1, 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외부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1885950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1790700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T: 기술 환경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125" y="1524000"/>
            <a:ext cx="3810000" cy="4333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nip Single Corner Rectangle 11"/>
          <p:cNvSpPr/>
          <p:nvPr/>
        </p:nvSpPr>
        <p:spPr>
          <a:xfrm>
            <a:off x="647700" y="1428750"/>
            <a:ext cx="2571750" cy="285750"/>
          </a:xfrm>
          <a:prstGeom prst="snip1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A0A0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기술 환경 변화의 특징 및 원인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3375" y="149542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1733550"/>
            <a:ext cx="3524250" cy="4048125"/>
          </a:xfrm>
          <a:prstGeom prst="rect">
            <a:avLst/>
          </a:prstGeom>
          <a:noFill/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글로벌 기술패권 경쟁 심화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미·중을 중심으로 반도체·AI·양자·우주 등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전략기술 확보전이 격화됨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디지털 대전환 가속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코로나19 이후 전 산업의 디지털화와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AI·데이터·클라우드 기반 혁신이 가속화됨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지속가능성 중심 전환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기후·에너지 전환을 중심으로 지속가능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기술혁신이 핵심 과제로 부상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과학기술의 사회적 가치 확산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기술이 사회문제 해결과 포용적 성장의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핵심수단으로 확대됨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인재·교육 체계 변화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STEM·AI 인재양성 및 디지털 리터러시 확산이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국가경쟁력의 핵심요인으로 부상</a:t>
            </a:r>
          </a:p>
        </p:txBody>
      </p:sp>
      <p:sp>
        <p:nvSpPr>
          <p:cNvPr id="15" name="Merge 14"/>
          <p:cNvSpPr/>
          <p:nvPr/>
        </p:nvSpPr>
        <p:spPr>
          <a:xfrm>
            <a:off x="2333625" y="5867400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125" y="5981700"/>
            <a:ext cx="3810000" cy="542925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0" tIns="0" rIns="76200" bIns="0"/>
          <a:lstStyle/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글로벌 기술경쟁과 디지털 전환 가속, 지속가능성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·사회적 가치 확산은 대학의 AI·디지털 융합교육 강화,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친환경 캠퍼스 전환, 인재양성체계 혁신을 요구함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4875" y="1524000"/>
            <a:ext cx="3790950" cy="4333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nip Single Corner Rectangle 17"/>
          <p:cNvSpPr/>
          <p:nvPr/>
        </p:nvSpPr>
        <p:spPr>
          <a:xfrm>
            <a:off x="4743450" y="1428750"/>
            <a:ext cx="2571750" cy="285750"/>
          </a:xfrm>
          <a:prstGeom prst="snip1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A0A0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기술환경 변화의 배경 및 이슈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0075" y="149542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4425" y="1733550"/>
            <a:ext cx="3505200" cy="40481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12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세계적 ‘기술 안보화(technology securitisation)’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국가 간 협력보다는 전략기술 자립·동맹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중심으로 이동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개방형 R&amp;D에서 자율·보호형 R&amp;D로 전환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공급망 재편, 핵심기술 국산화, 연구보안 강화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AI윤리·책임 거버넌스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생성형 AI 확산으로 인한 윤리·저작권·책임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논의 확대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데이터 주권 및 표준 경쟁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국가 간 데이터 규제 경쟁 심화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사회적 수용성과 규제환경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AI·디지털 확산 속도에 비해 제도·윤리·인프라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대응이 더딤</a:t>
            </a:r>
          </a:p>
        </p:txBody>
      </p:sp>
      <p:sp>
        <p:nvSpPr>
          <p:cNvPr id="21" name="Merge 20"/>
          <p:cNvSpPr/>
          <p:nvPr/>
        </p:nvSpPr>
        <p:spPr>
          <a:xfrm>
            <a:off x="6419850" y="5867400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14875" y="5981700"/>
            <a:ext cx="3790950" cy="542925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0" tIns="0" rIns="76200" bIns="0"/>
          <a:lstStyle/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기술의 안보화와 AI 윤리·데이터 거버넌스 등 복합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이슈가 부상함에 따라, 대학은 기술윤리·정보보호 교육,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국제공동연구 보안, 개방형 R&amp;D 체계를 강화해야 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750" y="6696075"/>
            <a:ext cx="8572500" cy="152400"/>
          </a:xfrm>
          <a:prstGeom prst="rect">
            <a:avLst/>
          </a:prstGeom>
          <a:noFill/>
        </p:spPr>
        <p:txBody>
          <a:bodyPr wrap="square" lIns="19050" tIns="0" rIns="0" bIns="0" anchor="ctr"/>
          <a:lstStyle/>
          <a:p>
            <a:pPr algn="l"/>
            <a:r>
              <a:rPr sz="650" b="0" i="0" spc="-40">
                <a:solidFill>
                  <a:srgbClr val="7F7F7F"/>
                </a:solidFill>
                <a:latin typeface="맑은 고딕"/>
                <a:ea typeface="맑은 고딕"/>
              </a:rPr>
              <a:t>출처: OECD 2023, KISTEP 브리프 164, 과기정통부 제5차 기본계획.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외부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1885950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1790700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T: 기술 환경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125" y="1971675"/>
            <a:ext cx="3810000" cy="4095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14875" y="1971675"/>
            <a:ext cx="3790950" cy="26955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476750" y="1971675"/>
            <a:ext cx="3762375" cy="0"/>
          </a:xfrm>
          <a:prstGeom prst="line">
            <a:avLst/>
          </a:prstGeom>
          <a:ln w="15875">
            <a:solidFill>
              <a:srgbClr val="1F3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nip Single Corner Rectangle 13"/>
          <p:cNvSpPr/>
          <p:nvPr/>
        </p:nvSpPr>
        <p:spPr>
          <a:xfrm>
            <a:off x="647700" y="1838325"/>
            <a:ext cx="3829050" cy="285750"/>
          </a:xfrm>
          <a:prstGeom prst="snip1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CFCFC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 rIns="0" bIns="0"/>
          <a:lstStyle/>
          <a:p>
            <a:pPr algn="l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주요 기술 트렌드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9125" y="185737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2190750"/>
            <a:ext cx="3648075" cy="3810000"/>
          </a:xfrm>
          <a:prstGeom prst="rect">
            <a:avLst/>
          </a:prstGeom>
          <a:noFill/>
        </p:spPr>
        <p:txBody>
          <a:bodyPr wrap="square" lIns="28575" tIns="19050" rIns="28575" bIns="19050" anchor="t"/>
          <a:lstStyle/>
          <a:p>
            <a:pPr algn="l">
              <a:lnSpc>
                <a:spcPct val="130000"/>
              </a:lnSpc>
            </a:pPr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인공지능 및 데이터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생성형·경량형 AI: 대규모 모델에서 효율형·도메인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    특화형 AI로 진화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에이전틱 AI·자율시스템: 인간 개입 최소화,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자율 의사결정형 AI 확산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컴퓨팅·보안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양자컴퓨팅: 초고속 연산·양자암호·양자통신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상용화 진입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사이버보안·PQC: 양자 내성 암호·AI 기반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위협탐지로 보안 패러다임 전환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융합기술·로보틱스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→ 휴먼-로봇 협력: 휴머노이드·산업로봇·돌봄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    로봇의 대중화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공간컴퓨팅·XR: AR/VR·디지털 트윈을 통한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산업·교육·의료 혁신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6800" y="2190750"/>
            <a:ext cx="3619500" cy="2428875"/>
          </a:xfrm>
          <a:prstGeom prst="rect">
            <a:avLst/>
          </a:prstGeom>
          <a:noFill/>
        </p:spPr>
        <p:txBody>
          <a:bodyPr wrap="square" lIns="28575" tIns="19050" rIns="28575" bIns="19050" anchor="t"/>
          <a:lstStyle/>
          <a:p>
            <a:pPr algn="l">
              <a:lnSpc>
                <a:spcPct val="130000"/>
              </a:lnSpc>
            </a:pPr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산업·에너지 혁신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→ 클린테크 ·탄소 저감: 에너지 효율·탄소 포집·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순환경제 기술 고도화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바이오·헬스테크: 유전체 데이터·AI의료·신약개발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    기술 급성장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인프라·사회기술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스마트시티·모빌리티: 자율주행·지능형 교통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    ·도시 데이터 인프라 확산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디지털 거버넌스·윤리기술: AI 거버넌스·데이터</a:t>
            </a:r>
          </a:p>
          <a:p>
            <a:pPr algn="l">
              <a:lnSpc>
                <a:spcPct val="130000"/>
              </a:lnSpc>
            </a:pPr>
            <a:r>
              <a:rPr sz="10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윤리·기술 신뢰성 확보 정책 강화</a:t>
            </a:r>
          </a:p>
        </p:txBody>
      </p:sp>
      <p:sp>
        <p:nvSpPr>
          <p:cNvPr id="18" name="Merge 17"/>
          <p:cNvSpPr/>
          <p:nvPr/>
        </p:nvSpPr>
        <p:spPr>
          <a:xfrm>
            <a:off x="6429375" y="4676775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14875" y="4791075"/>
            <a:ext cx="3790950" cy="1276350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 rIns="38100" bIns="0"/>
          <a:lstStyle/>
          <a:p>
            <a:pPr algn="l">
              <a:lnSpc>
                <a:spcPct val="100000"/>
              </a:lnSpc>
            </a:pPr>
            <a:r>
              <a:rPr sz="950" b="0" i="0" spc="-40">
                <a:solidFill>
                  <a:srgbClr val="FFFFFF"/>
                </a:solidFill>
                <a:latin typeface="맑은 고딕"/>
                <a:ea typeface="맑은 고딕"/>
              </a:rPr>
              <a:t>인공지능, 양자컴퓨팅, 로보틱스, 클린테크, 스마트인프라로</a:t>
            </a:r>
          </a:p>
          <a:p>
            <a:pPr algn="l">
              <a:lnSpc>
                <a:spcPct val="100000"/>
              </a:lnSpc>
            </a:pPr>
            <a:r>
              <a:rPr sz="950" b="0" i="0" spc="-40">
                <a:solidFill>
                  <a:srgbClr val="FFFFFF"/>
                </a:solidFill>
                <a:latin typeface="맑은 고딕"/>
                <a:ea typeface="맑은 고딕"/>
              </a:rPr>
              <a:t>대표되는 기술혁신은 산업과 사회 전반은 물론 교육·연구</a:t>
            </a:r>
          </a:p>
          <a:p>
            <a:pPr algn="l">
              <a:lnSpc>
                <a:spcPct val="100000"/>
              </a:lnSpc>
            </a:pPr>
            <a:r>
              <a:rPr sz="950" b="0" i="0" spc="-40">
                <a:solidFill>
                  <a:srgbClr val="FFFFFF"/>
                </a:solidFill>
                <a:latin typeface="맑은 고딕"/>
                <a:ea typeface="맑은 고딕"/>
              </a:rPr>
              <a:t>생태계의 패러다임까지 변화시키고 있음. 대학은 이에</a:t>
            </a:r>
          </a:p>
          <a:p>
            <a:pPr algn="l">
              <a:lnSpc>
                <a:spcPct val="100000"/>
              </a:lnSpc>
            </a:pPr>
            <a:r>
              <a:rPr sz="950" b="0" i="0" spc="-40">
                <a:solidFill>
                  <a:srgbClr val="FFFFFF"/>
                </a:solidFill>
                <a:latin typeface="맑은 고딕"/>
                <a:ea typeface="맑은 고딕"/>
              </a:rPr>
              <a:t>대응하여 AI·디지털 융합교육과 첨단기술 연구거점, 지속</a:t>
            </a:r>
          </a:p>
          <a:p>
            <a:pPr algn="l">
              <a:lnSpc>
                <a:spcPct val="100000"/>
              </a:lnSpc>
            </a:pPr>
            <a:r>
              <a:rPr sz="950" b="0" i="0" spc="-40">
                <a:solidFill>
                  <a:srgbClr val="FFFFFF"/>
                </a:solidFill>
                <a:latin typeface="맑은 고딕"/>
                <a:ea typeface="맑은 고딕"/>
              </a:rPr>
              <a:t>가능 혁신 인프라를 강화함으로써 기술의 발전이 윤리·포용</a:t>
            </a:r>
          </a:p>
          <a:p>
            <a:pPr algn="l">
              <a:lnSpc>
                <a:spcPct val="100000"/>
              </a:lnSpc>
            </a:pPr>
            <a:r>
              <a:rPr sz="950" b="0" i="0" spc="-40">
                <a:solidFill>
                  <a:srgbClr val="FFFFFF"/>
                </a:solidFill>
                <a:latin typeface="맑은 고딕"/>
                <a:ea typeface="맑은 고딕"/>
              </a:rPr>
              <a:t>·지속가능성의 가치 속에서 사회적 혁신으로 확산되도록</a:t>
            </a:r>
          </a:p>
          <a:p>
            <a:pPr algn="l">
              <a:lnSpc>
                <a:spcPct val="100000"/>
              </a:lnSpc>
            </a:pPr>
            <a:r>
              <a:rPr sz="950" b="0" i="0" spc="-40">
                <a:solidFill>
                  <a:srgbClr val="FFFFFF"/>
                </a:solidFill>
                <a:latin typeface="맑은 고딕"/>
                <a:ea typeface="맑은 고딕"/>
              </a:rPr>
              <a:t>선도적 역할을 수행해야 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750" y="6696075"/>
            <a:ext cx="8572500" cy="152400"/>
          </a:xfrm>
          <a:prstGeom prst="rect">
            <a:avLst/>
          </a:prstGeom>
          <a:noFill/>
        </p:spPr>
        <p:txBody>
          <a:bodyPr wrap="square" lIns="19050" tIns="0" rIns="0" bIns="0" anchor="ctr"/>
          <a:lstStyle/>
          <a:p>
            <a:pPr algn="l"/>
            <a:r>
              <a:rPr sz="650" b="0" i="0" spc="-40">
                <a:solidFill>
                  <a:srgbClr val="7F7F7F"/>
                </a:solidFill>
                <a:latin typeface="맑은 고딕"/>
                <a:ea typeface="맑은 고딕"/>
              </a:rPr>
              <a:t>출처: OECD 2023, KISTEP 브리프 164, 과기정통부 제5차 기본계획.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외부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1885950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1790700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R: 지역 환경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125" y="1543050"/>
            <a:ext cx="3810000" cy="4686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885950"/>
            <a:ext cx="3238500" cy="4248150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714375" y="1657350"/>
            <a:ext cx="952500" cy="285750"/>
          </a:xfrm>
          <a:prstGeom prst="wedgeRoundRectCallout">
            <a:avLst>
              <a:gd name="adj1" fmla="val 62000"/>
              <a:gd name="adj2" fmla="val 0"/>
              <a:gd name="adj3" fmla="val 16667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250" b="1" i="0" spc="-40">
                <a:solidFill>
                  <a:srgbClr val="0B2A5B"/>
                </a:solidFill>
                <a:latin typeface="맑은 고딕"/>
                <a:ea typeface="맑은 고딕"/>
              </a:rPr>
              <a:t>인구 영역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14875" y="1762125"/>
            <a:ext cx="3790950" cy="3333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entagon 14"/>
          <p:cNvSpPr/>
          <p:nvPr/>
        </p:nvSpPr>
        <p:spPr>
          <a:xfrm>
            <a:off x="4714875" y="1600200"/>
            <a:ext cx="3714750" cy="285750"/>
          </a:xfrm>
          <a:prstGeom prst="homePlate">
            <a:avLst>
              <a:gd name="adj" fmla="val 40000"/>
            </a:avLst>
          </a:prstGeom>
          <a:gradFill rotWithShape="1">
            <a:gsLst>
              <a:gs pos="0">
                <a:srgbClr val="595959"/>
              </a:gs>
              <a:gs pos="100000">
                <a:srgbClr val="D9D9D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250" b="1" i="0" spc="-40">
                <a:solidFill>
                  <a:srgbClr val="FFFFFF"/>
                </a:solidFill>
                <a:latin typeface="맑은 고딕"/>
                <a:ea typeface="맑은 고딕"/>
              </a:rPr>
              <a:t>산업·교통 인프라에 따른 인구유입과 유출 구조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0" y="1952625"/>
            <a:ext cx="3733800" cy="304800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25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→ 7개 시군(아산, 서산, 천안, 청양, 태안, 계룡, 당진)에서는</a:t>
            </a:r>
          </a:p>
          <a:p>
            <a:pPr algn="l">
              <a:lnSpc>
                <a:spcPct val="125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    인구증가율 증가, 7개 시군(부여, 논산, 서천, 보령, 금산,</a:t>
            </a:r>
          </a:p>
          <a:p>
            <a:pPr algn="l">
              <a:lnSpc>
                <a:spcPct val="125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    공주, 홍성)에서는 인구증가율 감소 전망 → 충남</a:t>
            </a:r>
          </a:p>
          <a:p>
            <a:pPr algn="l">
              <a:lnSpc>
                <a:spcPct val="125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    총인구는 2020년 2,177천명에서 2040년 2,255천명</a:t>
            </a:r>
          </a:p>
          <a:p>
            <a:pPr algn="l">
              <a:lnSpc>
                <a:spcPct val="125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    으로 증가할 전망</a:t>
            </a:r>
          </a:p>
          <a:p>
            <a:pPr algn="l">
              <a:lnSpc>
                <a:spcPct val="125000"/>
              </a:lnSpc>
            </a:pPr>
            <a:r>
              <a:rPr sz="600" b="0" i="0" spc="-4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→ 북부권은 주요 대기업 생산공장의 입지, 수도권과의</a:t>
            </a:r>
          </a:p>
          <a:p>
            <a:pPr algn="l">
              <a:lnSpc>
                <a:spcPct val="125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    인접성, 발달된 교통망 등 기반으로 양질의 고용 환경을</a:t>
            </a:r>
          </a:p>
          <a:p>
            <a:pPr algn="l">
              <a:lnSpc>
                <a:spcPct val="125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    제공하며 지속적인 인구 순유입</a:t>
            </a:r>
          </a:p>
          <a:p>
            <a:pPr algn="l">
              <a:lnSpc>
                <a:spcPct val="125000"/>
              </a:lnSpc>
            </a:pPr>
            <a:r>
              <a:rPr sz="600" b="0" i="0" spc="-4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→ 남부권은 양질의 일자리 부족, 취약한 교통 접근성,</a:t>
            </a:r>
          </a:p>
          <a:p>
            <a:pPr algn="l">
              <a:lnSpc>
                <a:spcPct val="125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    교육·의료 인프라 미흡 등의 요인으로 인해 인구 유출</a:t>
            </a:r>
          </a:p>
          <a:p>
            <a:pPr algn="l">
              <a:lnSpc>
                <a:spcPct val="125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    현상 지속</a:t>
            </a:r>
          </a:p>
        </p:txBody>
      </p:sp>
      <p:sp>
        <p:nvSpPr>
          <p:cNvPr id="17" name="Merge 16"/>
          <p:cNvSpPr/>
          <p:nvPr/>
        </p:nvSpPr>
        <p:spPr>
          <a:xfrm>
            <a:off x="6429375" y="5172075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14875" y="5286375"/>
            <a:ext cx="3790950" cy="952500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81000" tIns="0" rIns="38100" bIns="0"/>
          <a:lstStyle/>
          <a:p>
            <a:pPr algn="l">
              <a:lnSpc>
                <a:spcPct val="100000"/>
              </a:lnSpc>
            </a:pPr>
            <a:r>
              <a:rPr sz="1050" b="0" i="0" spc="-40">
                <a:solidFill>
                  <a:srgbClr val="FFFFFF"/>
                </a:solidFill>
                <a:latin typeface="맑은 고딕"/>
                <a:ea typeface="맑은 고딕"/>
              </a:rPr>
              <a:t>충남은 북부권의 산업 집중은 일자리와 인프라 확충을</a:t>
            </a:r>
          </a:p>
          <a:p>
            <a:pPr algn="l">
              <a:lnSpc>
                <a:spcPct val="100000"/>
              </a:lnSpc>
            </a:pPr>
            <a:r>
              <a:rPr sz="1050" b="0" i="0" spc="-40">
                <a:solidFill>
                  <a:srgbClr val="FFFFFF"/>
                </a:solidFill>
                <a:latin typeface="맑은 고딕"/>
                <a:ea typeface="맑은 고딕"/>
              </a:rPr>
              <a:t>이끌지만, 남부권은 산업기반 취약으로 청년층 유출이</a:t>
            </a:r>
          </a:p>
          <a:p>
            <a:pPr algn="l">
              <a:lnSpc>
                <a:spcPct val="100000"/>
              </a:lnSpc>
            </a:pPr>
            <a:r>
              <a:rPr sz="1050" b="0" i="0" spc="-40">
                <a:solidFill>
                  <a:srgbClr val="FFFFFF"/>
                </a:solidFill>
                <a:latin typeface="맑은 고딕"/>
                <a:ea typeface="맑은 고딕"/>
              </a:rPr>
              <a:t>심화됨. 이에 따라 대학은 지역 인구 감소와 산업·고용</a:t>
            </a:r>
          </a:p>
          <a:p>
            <a:pPr algn="l">
              <a:lnSpc>
                <a:spcPct val="100000"/>
              </a:lnSpc>
            </a:pPr>
            <a:r>
              <a:rPr sz="1050" b="0" i="0" spc="-40">
                <a:solidFill>
                  <a:srgbClr val="FFFFFF"/>
                </a:solidFill>
                <a:latin typeface="맑은 고딕"/>
                <a:ea typeface="맑은 고딕"/>
              </a:rPr>
              <a:t>불균형에 대응한 지역산업 맞춤형 교육 및 평생학습체계</a:t>
            </a:r>
          </a:p>
          <a:p>
            <a:pPr algn="l">
              <a:lnSpc>
                <a:spcPct val="100000"/>
              </a:lnSpc>
            </a:pPr>
            <a:r>
              <a:rPr sz="1050" b="0" i="0" spc="-40">
                <a:solidFill>
                  <a:srgbClr val="FFFFFF"/>
                </a:solidFill>
                <a:latin typeface="맑은 고딕"/>
                <a:ea typeface="맑은 고딕"/>
              </a:rPr>
              <a:t>강화가 필요함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외부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1885950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1790700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R: 지역 환경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125" y="1543050"/>
            <a:ext cx="3810000" cy="4686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ular Callout 11"/>
          <p:cNvSpPr/>
          <p:nvPr/>
        </p:nvSpPr>
        <p:spPr>
          <a:xfrm>
            <a:off x="714375" y="1657350"/>
            <a:ext cx="952500" cy="285750"/>
          </a:xfrm>
          <a:prstGeom prst="wedgeRoundRectCallout">
            <a:avLst>
              <a:gd name="adj1" fmla="val 62000"/>
              <a:gd name="adj2" fmla="val 0"/>
              <a:gd name="adj3" fmla="val 16667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250" b="1" i="0" spc="-40">
                <a:solidFill>
                  <a:srgbClr val="0B2A5B"/>
                </a:solidFill>
                <a:latin typeface="맑은 고딕"/>
                <a:ea typeface="맑은 고딕"/>
              </a:rPr>
              <a:t>인구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133600"/>
            <a:ext cx="3571875" cy="2095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ct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전체인구 대비 노령인구(64세 이상) 구성비(%)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714375" y="2324100"/>
          <a:ext cx="3667125" cy="1600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5" name="Connector 14"/>
          <p:cNvCxnSpPr/>
          <p:nvPr/>
        </p:nvCxnSpPr>
        <p:spPr>
          <a:xfrm>
            <a:off x="762000" y="4000500"/>
            <a:ext cx="3524250" cy="0"/>
          </a:xfrm>
          <a:prstGeom prst="line">
            <a:avLst/>
          </a:prstGeom>
          <a:ln w="12700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2000" y="4229100"/>
            <a:ext cx="3571875" cy="2095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ct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충청남도 외국인 인구 현황 및 변화 추이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14375" y="4438650"/>
          <a:ext cx="3667125" cy="16383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4714875" y="1543050"/>
            <a:ext cx="3790950" cy="3924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1075" y="1619250"/>
            <a:ext cx="3695700" cy="381000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18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충청남도의 64세 이상 노령인구는 ’20년 39만명</a:t>
            </a:r>
          </a:p>
          <a:p>
            <a:pPr algn="l">
              <a:lnSpc>
                <a:spcPct val="118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(17.9%)에서 지속적으로 증가하여, ’30년 61만명</a:t>
            </a:r>
          </a:p>
          <a:p>
            <a:pPr algn="l">
              <a:lnSpc>
                <a:spcPct val="118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(27.2%), ’40년 82만명(36.4%)에 이를 전망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(천안) 전체인구 대비 노령인구(64세 이상)의 비중은</a:t>
            </a:r>
          </a:p>
          <a:p>
            <a:pPr algn="l">
              <a:lnSpc>
                <a:spcPct val="118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‘20년 10.4%에서 증가하여 27.1%로 증가할 전망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(아산) 전체인구 대비 노령인구(64세 이상)의 비중은</a:t>
            </a:r>
          </a:p>
          <a:p>
            <a:pPr algn="l">
              <a:lnSpc>
                <a:spcPct val="118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‘20년 12.1%에서 증가하여 28.4%로 증가할 전망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충청남도의 외국인 인구는 2018년 68,234명에서</a:t>
            </a:r>
          </a:p>
          <a:p>
            <a:pPr algn="l">
              <a:lnSpc>
                <a:spcPct val="118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2022년 71,159명으로 2,925명 증가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일부 시군(예산, 서산, 계룡)을 제외하면 대부분의</a:t>
            </a:r>
          </a:p>
          <a:p>
            <a:pPr algn="l">
              <a:lnSpc>
                <a:spcPct val="118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시군에서 외국인 인구는 증가 추세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 충남지역의 생산가능인구가 지속적으로 감소하고</a:t>
            </a:r>
          </a:p>
          <a:p>
            <a:pPr algn="l">
              <a:lnSpc>
                <a:spcPct val="118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있는 상황에서 외국인 전문인력의 적극적인 유입은</a:t>
            </a:r>
          </a:p>
          <a:p>
            <a:pPr algn="l">
              <a:lnSpc>
                <a:spcPct val="118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지역 경제 성장을 촉진할 것으로 전망</a:t>
            </a:r>
          </a:p>
        </p:txBody>
      </p:sp>
      <p:sp>
        <p:nvSpPr>
          <p:cNvPr id="20" name="Merge 19"/>
          <p:cNvSpPr/>
          <p:nvPr/>
        </p:nvSpPr>
        <p:spPr>
          <a:xfrm>
            <a:off x="6429375" y="5476875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14875" y="5591175"/>
            <a:ext cx="3790950" cy="647700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0" tIns="0" rIns="38100" bIns="0"/>
          <a:lstStyle/>
          <a:p>
            <a:pPr algn="l">
              <a:lnSpc>
                <a:spcPct val="100000"/>
              </a:lnSpc>
            </a:pPr>
            <a:r>
              <a:rPr sz="1000" b="0" i="0" spc="-40">
                <a:solidFill>
                  <a:srgbClr val="FFFFFF"/>
                </a:solidFill>
                <a:latin typeface="맑은 고딕"/>
                <a:ea typeface="맑은 고딕"/>
              </a:rPr>
              <a:t>고령화 심화와 외국인 근로자 유입은 지역산업 인력 구조를</a:t>
            </a:r>
          </a:p>
          <a:p>
            <a:pPr algn="l">
              <a:lnSpc>
                <a:spcPct val="100000"/>
              </a:lnSpc>
            </a:pPr>
            <a:r>
              <a:rPr sz="1000" b="0" i="0" spc="-40">
                <a:solidFill>
                  <a:srgbClr val="FFFFFF"/>
                </a:solidFill>
                <a:latin typeface="맑은 고딕"/>
                <a:ea typeface="맑은 고딕"/>
              </a:rPr>
              <a:t>빠르게 변화시키고 있음. 대학은 고령층 평생교육·외국인</a:t>
            </a:r>
          </a:p>
          <a:p>
            <a:pPr algn="l">
              <a:lnSpc>
                <a:spcPct val="100000"/>
              </a:lnSpc>
            </a:pPr>
            <a:r>
              <a:rPr sz="1000" b="0" i="0" spc="-40">
                <a:solidFill>
                  <a:srgbClr val="FFFFFF"/>
                </a:solidFill>
                <a:latin typeface="맑은 고딕"/>
                <a:ea typeface="맑은 고딕"/>
              </a:rPr>
              <a:t>직업훈련 등 다문화·고령친화 교육체계를 강화해야 함.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외부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1885950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1790700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R: 지역 환경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125" y="1543050"/>
            <a:ext cx="3810000" cy="479107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1571625"/>
            <a:ext cx="3486150" cy="4733925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685800" y="1638300"/>
            <a:ext cx="1905000" cy="304800"/>
          </a:xfrm>
          <a:prstGeom prst="wedgeRoundRectCallout">
            <a:avLst>
              <a:gd name="adj1" fmla="val 56000"/>
              <a:gd name="adj2" fmla="val 0"/>
              <a:gd name="adj3" fmla="val 16667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250" b="1" i="0" spc="-40">
                <a:solidFill>
                  <a:srgbClr val="0B2A5B"/>
                </a:solidFill>
                <a:latin typeface="맑은 고딕"/>
                <a:ea typeface="맑은 고딕"/>
              </a:rPr>
              <a:t>지역산업 구조 및 고용환경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14875" y="1762125"/>
            <a:ext cx="3790950" cy="349567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entagon 14"/>
          <p:cNvSpPr/>
          <p:nvPr/>
        </p:nvSpPr>
        <p:spPr>
          <a:xfrm>
            <a:off x="4714875" y="1600200"/>
            <a:ext cx="3714750" cy="285750"/>
          </a:xfrm>
          <a:prstGeom prst="homePlate">
            <a:avLst>
              <a:gd name="adj" fmla="val 40000"/>
            </a:avLst>
          </a:prstGeom>
          <a:gradFill rotWithShape="1">
            <a:gsLst>
              <a:gs pos="0">
                <a:srgbClr val="595959"/>
              </a:gs>
              <a:gs pos="100000">
                <a:srgbClr val="D9D9D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6200" tIns="0" rIns="0" bIns="0"/>
          <a:lstStyle/>
          <a:p>
            <a:pPr algn="l"/>
            <a:r>
              <a:rPr sz="1150" b="1" i="0" spc="-40">
                <a:solidFill>
                  <a:srgbClr val="FFFFFF"/>
                </a:solidFill>
                <a:latin typeface="맑은 고딕"/>
                <a:ea typeface="맑은 고딕"/>
              </a:rPr>
              <a:t>충남 주력산업: 디스플레이, 자동차부품, 기계, 바이오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8700" y="2095500"/>
            <a:ext cx="3667125" cy="3095625"/>
          </a:xfrm>
          <a:prstGeom prst="rect">
            <a:avLst/>
          </a:prstGeom>
          <a:noFill/>
        </p:spPr>
        <p:txBody>
          <a:bodyPr wrap="square" lIns="28575" tIns="19050" rIns="28575" bIns="19050" anchor="t"/>
          <a:lstStyle/>
          <a:p>
            <a:pPr algn="l">
              <a:lnSpc>
                <a:spcPct val="120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디스플레이 산업</a:t>
            </a:r>
          </a:p>
          <a:p>
            <a:pPr algn="l">
              <a:lnSpc>
                <a:spcPct val="120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- 아산·천안 중심 → 글로벌 경기 변동에 민감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자동차부품·기계 산업</a:t>
            </a:r>
          </a:p>
          <a:p>
            <a:pPr algn="l">
              <a:lnSpc>
                <a:spcPct val="120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- 서산·당진 중심 → 고용규모 크나 경기 의존도 높음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바이오 헬스 산업</a:t>
            </a:r>
          </a:p>
          <a:p>
            <a:pPr algn="l">
              <a:lnSpc>
                <a:spcPct val="120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- 천안·공주 중심 → 정부 바이오 클러스터 정책과 연계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화학·에너지 산업</a:t>
            </a:r>
          </a:p>
          <a:p>
            <a:pPr algn="l">
              <a:lnSpc>
                <a:spcPct val="120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- 서천·보령 중심 → ESG 규제와 탄소중립 대응 필요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신성장 산업</a:t>
            </a:r>
          </a:p>
          <a:p>
            <a:pPr algn="l">
              <a:lnSpc>
                <a:spcPct val="120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- 반도체·로봇·스마트팩토리 등 첨단산업 확대 기반</a:t>
            </a:r>
          </a:p>
          <a:p>
            <a:pPr algn="l">
              <a:lnSpc>
                <a:spcPct val="120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마련 중</a:t>
            </a:r>
          </a:p>
        </p:txBody>
      </p:sp>
      <p:sp>
        <p:nvSpPr>
          <p:cNvPr id="17" name="Merge 16"/>
          <p:cNvSpPr/>
          <p:nvPr/>
        </p:nvSpPr>
        <p:spPr>
          <a:xfrm>
            <a:off x="6429375" y="5353050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14875" y="5467350"/>
            <a:ext cx="3790950" cy="876300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1950" tIns="0" rIns="38100" bIns="0"/>
          <a:lstStyle/>
          <a:p>
            <a:pPr algn="l">
              <a:lnSpc>
                <a:spcPct val="100000"/>
              </a:lnSpc>
            </a:pPr>
            <a:r>
              <a:rPr sz="1050" b="0" i="0" spc="-40">
                <a:solidFill>
                  <a:srgbClr val="FFFFFF"/>
                </a:solidFill>
                <a:latin typeface="맑은 고딕"/>
                <a:ea typeface="맑은 고딕"/>
              </a:rPr>
              <a:t>산업 구조 고도화와 인력 수요 변화에 대응해 대학은 전공</a:t>
            </a:r>
          </a:p>
          <a:p>
            <a:pPr algn="l">
              <a:lnSpc>
                <a:spcPct val="100000"/>
              </a:lnSpc>
            </a:pPr>
            <a:r>
              <a:rPr sz="1050" b="0" i="0" spc="-40">
                <a:solidFill>
                  <a:srgbClr val="FFFFFF"/>
                </a:solidFill>
                <a:latin typeface="맑은 고딕"/>
                <a:ea typeface="맑은 고딕"/>
              </a:rPr>
              <a:t>재편·산학협력 중심 교육과정을 강화하고,지역 주력산업</a:t>
            </a:r>
          </a:p>
          <a:p>
            <a:pPr algn="l">
              <a:lnSpc>
                <a:spcPct val="100000"/>
              </a:lnSpc>
            </a:pPr>
            <a:r>
              <a:rPr sz="1050" b="0" i="0" spc="-40">
                <a:solidFill>
                  <a:srgbClr val="FFFFFF"/>
                </a:solidFill>
                <a:latin typeface="맑은 고딕"/>
                <a:ea typeface="맑은 고딕"/>
              </a:rPr>
              <a:t>(디스플레이·자동차·바이오·에너지)과 연계한 현장기반</a:t>
            </a:r>
          </a:p>
          <a:p>
            <a:pPr algn="l">
              <a:lnSpc>
                <a:spcPct val="100000"/>
              </a:lnSpc>
            </a:pPr>
            <a:r>
              <a:rPr sz="1050" b="0" i="0" spc="-40">
                <a:solidFill>
                  <a:srgbClr val="FFFFFF"/>
                </a:solidFill>
                <a:latin typeface="맑은 고딕"/>
                <a:ea typeface="맑은 고딕"/>
              </a:rPr>
              <a:t>취·창업 지원 시스템을 구축해야 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외부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2857500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2762250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PEST+R 분석 결과 및 시사점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125" y="1409700"/>
            <a:ext cx="7886700" cy="2381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9A9A9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125" y="1409700"/>
            <a:ext cx="1076325" cy="2381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ctr"/>
            <a:r>
              <a:rPr sz="1150" b="1" i="0" spc="-40">
                <a:solidFill>
                  <a:srgbClr val="FFFFFF"/>
                </a:solidFill>
                <a:latin typeface="맑은 고딕"/>
                <a:ea typeface="맑은 고딕"/>
              </a:rPr>
              <a:t>구분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5450" y="1409700"/>
            <a:ext cx="3400425" cy="2381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ctr"/>
            <a:r>
              <a:rPr sz="1150" b="1" i="0" spc="-40">
                <a:solidFill>
                  <a:srgbClr val="FFFFFF"/>
                </a:solidFill>
                <a:latin typeface="맑은 고딕"/>
                <a:ea typeface="맑은 고딕"/>
              </a:rPr>
              <a:t>핵심 변화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5875" y="1409700"/>
            <a:ext cx="3409950" cy="2381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ctr"/>
            <a:r>
              <a:rPr sz="1150" b="1" i="0" spc="-40">
                <a:solidFill>
                  <a:srgbClr val="FFFFFF"/>
                </a:solidFill>
                <a:latin typeface="맑은 고딕"/>
                <a:ea typeface="맑은 고딕"/>
              </a:rPr>
              <a:t>시사점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95450" y="1438275"/>
            <a:ext cx="0" cy="180975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95875" y="1438275"/>
            <a:ext cx="0" cy="180975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entagon 16"/>
          <p:cNvSpPr/>
          <p:nvPr/>
        </p:nvSpPr>
        <p:spPr>
          <a:xfrm>
            <a:off x="666750" y="2038350"/>
            <a:ext cx="952500" cy="323850"/>
          </a:xfrm>
          <a:prstGeom prst="homePlate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250" b="1" i="0" spc="-40">
                <a:solidFill>
                  <a:srgbClr val="0B2A5B"/>
                </a:solidFill>
                <a:latin typeface="맑은 고딕"/>
                <a:ea typeface="맑은 고딕"/>
              </a:rPr>
              <a:t>정책(P)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14500" y="1714500"/>
            <a:ext cx="3333750" cy="9715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9750" y="1714500"/>
            <a:ext cx="3219450" cy="9715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20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- 대학혁신지원사업·RISE 등 정부정책의 자율성과</a:t>
            </a:r>
          </a:p>
          <a:p>
            <a:pPr algn="l">
              <a:lnSpc>
                <a:spcPct val="120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  지역연계 강화 기조</a:t>
            </a:r>
          </a:p>
          <a:p>
            <a:pPr algn="l">
              <a:lnSpc>
                <a:spcPct val="120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- 대학 구조개혁 등 고등교육 체제 개편 본격화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43500" y="1714500"/>
            <a:ext cx="3362325" cy="9715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91125" y="1714500"/>
            <a:ext cx="3286125" cy="9715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30000"/>
              </a:lnSpc>
            </a:pPr>
            <a:r>
              <a:rPr sz="1150" b="1" i="0" spc="-40">
                <a:solidFill>
                  <a:srgbClr val="1A2B4A"/>
                </a:solidFill>
                <a:latin typeface="맑은 고딕"/>
                <a:ea typeface="맑은 고딕"/>
              </a:rPr>
              <a:t>→ 정부 정책 변화에 대응한 자율혁신 기반 대학</a:t>
            </a:r>
          </a:p>
          <a:p>
            <a:pPr algn="l">
              <a:lnSpc>
                <a:spcPct val="130000"/>
              </a:lnSpc>
            </a:pPr>
            <a:r>
              <a:rPr sz="1150" b="1" i="0" spc="-40">
                <a:solidFill>
                  <a:srgbClr val="1A2B4A"/>
                </a:solidFill>
                <a:latin typeface="맑은 고딕"/>
                <a:ea typeface="맑은 고딕"/>
              </a:rPr>
              <a:t>    운영체계 정립 및 지역연계형 발전모델 구축 필요</a:t>
            </a:r>
          </a:p>
        </p:txBody>
      </p:sp>
      <p:sp>
        <p:nvSpPr>
          <p:cNvPr id="22" name="Pentagon 21"/>
          <p:cNvSpPr/>
          <p:nvPr/>
        </p:nvSpPr>
        <p:spPr>
          <a:xfrm>
            <a:off x="666750" y="2957512"/>
            <a:ext cx="952500" cy="323850"/>
          </a:xfrm>
          <a:prstGeom prst="homePlate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250" b="1" i="0" spc="-40">
                <a:solidFill>
                  <a:srgbClr val="0B2A5B"/>
                </a:solidFill>
                <a:latin typeface="맑은 고딕"/>
                <a:ea typeface="맑은 고딕"/>
              </a:rPr>
              <a:t>경제(E)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14500" y="2743200"/>
            <a:ext cx="3333750" cy="75247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9750" y="2743200"/>
            <a:ext cx="3219450" cy="75247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20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- 경기 둔화·산업구조 전환·재정여력 한계 지속</a:t>
            </a:r>
          </a:p>
          <a:p>
            <a:pPr algn="l">
              <a:lnSpc>
                <a:spcPct val="120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- 중소기업 경기 부진, 산학협력 수요 감소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43500" y="2743200"/>
            <a:ext cx="3362325" cy="75247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1125" y="2743200"/>
            <a:ext cx="3286125" cy="75247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30000"/>
              </a:lnSpc>
            </a:pPr>
            <a:r>
              <a:rPr sz="1150" b="1" i="0" spc="-40">
                <a:solidFill>
                  <a:srgbClr val="1A2B4A"/>
                </a:solidFill>
                <a:latin typeface="맑은 고딕"/>
                <a:ea typeface="맑은 고딕"/>
              </a:rPr>
              <a:t>→ 산학협력·평생직업교육 중심의 혁신모델 구축</a:t>
            </a:r>
          </a:p>
          <a:p>
            <a:pPr algn="l">
              <a:lnSpc>
                <a:spcPct val="130000"/>
              </a:lnSpc>
            </a:pPr>
            <a:r>
              <a:rPr sz="1150" b="1" i="0" spc="-40">
                <a:solidFill>
                  <a:srgbClr val="1A2B4A"/>
                </a:solidFill>
                <a:latin typeface="맑은 고딕"/>
                <a:ea typeface="맑은 고딕"/>
              </a:rPr>
              <a:t>    및 재정 다변화 전략 강화</a:t>
            </a:r>
          </a:p>
        </p:txBody>
      </p:sp>
      <p:sp>
        <p:nvSpPr>
          <p:cNvPr id="27" name="Pentagon 26"/>
          <p:cNvSpPr/>
          <p:nvPr/>
        </p:nvSpPr>
        <p:spPr>
          <a:xfrm>
            <a:off x="666750" y="3762375"/>
            <a:ext cx="952500" cy="323850"/>
          </a:xfrm>
          <a:prstGeom prst="homePlate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250" b="1" i="0" spc="-40">
                <a:solidFill>
                  <a:srgbClr val="0B2A5B"/>
                </a:solidFill>
                <a:latin typeface="맑은 고딕"/>
                <a:ea typeface="맑은 고딕"/>
              </a:rPr>
              <a:t>사회(S)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14500" y="3552825"/>
            <a:ext cx="333375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09750" y="3552825"/>
            <a:ext cx="3219450" cy="7429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20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- 저출산·고령화·인구 감소, 노동·삶의 질 변화</a:t>
            </a:r>
          </a:p>
          <a:p>
            <a:pPr algn="l">
              <a:lnSpc>
                <a:spcPct val="120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- 청년고용 불안·평생교육 수요 확대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43500" y="3552825"/>
            <a:ext cx="3362325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91125" y="3552825"/>
            <a:ext cx="3286125" cy="7429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30000"/>
              </a:lnSpc>
            </a:pPr>
            <a:r>
              <a:rPr sz="1150" b="1" i="0" spc="-40">
                <a:solidFill>
                  <a:srgbClr val="1A2B4A"/>
                </a:solidFill>
                <a:latin typeface="맑은 고딕"/>
                <a:ea typeface="맑은 고딕"/>
              </a:rPr>
              <a:t>→ 학령인구 감소 대응형 교육혁신, 평생학습·복지</a:t>
            </a:r>
          </a:p>
          <a:p>
            <a:pPr algn="l">
              <a:lnSpc>
                <a:spcPct val="130000"/>
              </a:lnSpc>
            </a:pPr>
            <a:r>
              <a:rPr sz="1150" b="1" i="0" spc="-40">
                <a:solidFill>
                  <a:srgbClr val="1A2B4A"/>
                </a:solidFill>
                <a:latin typeface="맑은 고딕"/>
                <a:ea typeface="맑은 고딕"/>
              </a:rPr>
              <a:t>    ·문화 융합형 대학체제 전환 필요</a:t>
            </a:r>
          </a:p>
        </p:txBody>
      </p:sp>
      <p:sp>
        <p:nvSpPr>
          <p:cNvPr id="32" name="Pentagon 31"/>
          <p:cNvSpPr/>
          <p:nvPr/>
        </p:nvSpPr>
        <p:spPr>
          <a:xfrm>
            <a:off x="666750" y="4562475"/>
            <a:ext cx="952500" cy="323850"/>
          </a:xfrm>
          <a:prstGeom prst="homePlate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250" b="1" i="0" spc="-40">
                <a:solidFill>
                  <a:srgbClr val="0B2A5B"/>
                </a:solidFill>
                <a:latin typeface="맑은 고딕"/>
                <a:ea typeface="맑은 고딕"/>
              </a:rPr>
              <a:t>기술(T)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14500" y="4352925"/>
            <a:ext cx="333375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09750" y="4352925"/>
            <a:ext cx="3219450" cy="7429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20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- AI·양자·로봇·클린테크 등 첨단기술 확산</a:t>
            </a:r>
          </a:p>
          <a:p>
            <a:pPr algn="l">
              <a:lnSpc>
                <a:spcPct val="120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- 기술안보·데이터 거버넌스 등 정책 이슈 부상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43500" y="4352925"/>
            <a:ext cx="3362325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91125" y="4352925"/>
            <a:ext cx="3286125" cy="7429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30000"/>
              </a:lnSpc>
            </a:pPr>
            <a:r>
              <a:rPr sz="1150" b="1" i="0" spc="-40">
                <a:solidFill>
                  <a:srgbClr val="1A2B4A"/>
                </a:solidFill>
                <a:latin typeface="맑은 고딕"/>
                <a:ea typeface="맑은 고딕"/>
              </a:rPr>
              <a:t>→ AI·디지털 융합교육 강화, 첨단기술 기반 연구 및</a:t>
            </a:r>
          </a:p>
          <a:p>
            <a:pPr algn="l">
              <a:lnSpc>
                <a:spcPct val="130000"/>
              </a:lnSpc>
            </a:pPr>
            <a:r>
              <a:rPr sz="1150" b="1" i="0" spc="-40">
                <a:solidFill>
                  <a:srgbClr val="1A2B4A"/>
                </a:solidFill>
                <a:latin typeface="맑은 고딕"/>
                <a:ea typeface="맑은 고딕"/>
              </a:rPr>
              <a:t>    지속가능 혁신체계 구축 필요</a:t>
            </a:r>
          </a:p>
        </p:txBody>
      </p:sp>
      <p:sp>
        <p:nvSpPr>
          <p:cNvPr id="37" name="Pentagon 36"/>
          <p:cNvSpPr/>
          <p:nvPr/>
        </p:nvSpPr>
        <p:spPr>
          <a:xfrm>
            <a:off x="666750" y="5362575"/>
            <a:ext cx="952500" cy="323850"/>
          </a:xfrm>
          <a:prstGeom prst="homePlate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250" b="1" i="0" spc="-40">
                <a:solidFill>
                  <a:srgbClr val="0B2A5B"/>
                </a:solidFill>
                <a:latin typeface="맑은 고딕"/>
                <a:ea typeface="맑은 고딕"/>
              </a:rPr>
              <a:t>지역(R)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14500" y="5153025"/>
            <a:ext cx="333375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09750" y="5153025"/>
            <a:ext cx="3219450" cy="7429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20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- 충남 북부권 산업집중, 남부권 인구이탈로 지역</a:t>
            </a:r>
          </a:p>
          <a:p>
            <a:pPr algn="l">
              <a:lnSpc>
                <a:spcPct val="120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  불균형 심화</a:t>
            </a:r>
          </a:p>
          <a:p>
            <a:pPr algn="l">
              <a:lnSpc>
                <a:spcPct val="120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- 고령화 및 외국인 유입 증가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43500" y="5153025"/>
            <a:ext cx="3362325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1125" y="5153025"/>
            <a:ext cx="3286125" cy="7429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30000"/>
              </a:lnSpc>
            </a:pPr>
            <a:r>
              <a:rPr sz="1150" b="1" i="0" spc="-40">
                <a:solidFill>
                  <a:srgbClr val="1A2B4A"/>
                </a:solidFill>
                <a:latin typeface="맑은 고딕"/>
                <a:ea typeface="맑은 고딕"/>
              </a:rPr>
              <a:t>→ 지역산업 맞춤형 전공개편·산학연계 강화,</a:t>
            </a:r>
          </a:p>
          <a:p>
            <a:pPr algn="l">
              <a:lnSpc>
                <a:spcPct val="130000"/>
              </a:lnSpc>
            </a:pPr>
            <a:r>
              <a:rPr sz="1150" b="1" i="0" spc="-40">
                <a:solidFill>
                  <a:srgbClr val="1A2B4A"/>
                </a:solidFill>
                <a:latin typeface="맑은 고딕"/>
                <a:ea typeface="맑은 고딕"/>
              </a:rPr>
              <a:t>    지역평생교육 및 사회공헌 확대 필요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125" y="5953125"/>
            <a:ext cx="7886700" cy="619125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 rIns="38100" bIns="0"/>
          <a:lstStyle/>
          <a:p>
            <a:pPr algn="l">
              <a:lnSpc>
                <a:spcPct val="100000"/>
              </a:lnSpc>
            </a:pPr>
            <a:r>
              <a:rPr sz="1000" b="0" i="0" spc="-40">
                <a:solidFill>
                  <a:srgbClr val="FFFFFF"/>
                </a:solidFill>
                <a:latin typeface="맑은 고딕"/>
                <a:ea typeface="맑은 고딕"/>
              </a:rPr>
              <a:t>정책·경제·사회·기술·지역 전반의 환경 변화는 대학의 기존 체제를 근본적으로 재구조화 할 것을 요구하고 있음. 대학은 AI·디지털</a:t>
            </a:r>
          </a:p>
          <a:p>
            <a:pPr algn="l">
              <a:lnSpc>
                <a:spcPct val="100000"/>
              </a:lnSpc>
            </a:pPr>
            <a:r>
              <a:rPr sz="1000" b="0" i="0" spc="-40">
                <a:solidFill>
                  <a:srgbClr val="FFFFFF"/>
                </a:solidFill>
                <a:latin typeface="맑은 고딕"/>
                <a:ea typeface="맑은 고딕"/>
              </a:rPr>
              <a:t>융합교육, 산학협력 기반 재정 다변화, 지역산업 연계형 평생학습 생태계 구축을 통해 지속가능한 성장과 사회적 책무를 실현하는 혁신</a:t>
            </a:r>
          </a:p>
          <a:p>
            <a:pPr algn="l">
              <a:lnSpc>
                <a:spcPct val="100000"/>
              </a:lnSpc>
            </a:pPr>
            <a:r>
              <a:rPr sz="1000" b="0" i="0" spc="-40">
                <a:solidFill>
                  <a:srgbClr val="FFFFFF"/>
                </a:solidFill>
                <a:latin typeface="맑은 고딕"/>
                <a:ea typeface="맑은 고딕"/>
              </a:rPr>
              <a:t>허브(innovation hub) 로 전환해야 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내부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3333750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3238500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7s - ① </a:t>
            </a:r>
            <a:r>
              <a:rPr sz="1400" b="0" i="0" spc="-40">
                <a:solidFill>
                  <a:srgbClr val="FFFFFF"/>
                </a:solidFill>
                <a:latin typeface="맑은 고딕"/>
                <a:ea typeface="맑은 고딕"/>
              </a:rPr>
              <a:t>Strategy: 중장기 발전전략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5825" y="1619250"/>
            <a:ext cx="971550" cy="314325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7F7F7F"/>
              </a:gs>
              <a:gs pos="100000">
                <a:srgbClr val="A6A6A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비전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71675" y="1600200"/>
            <a:ext cx="6267450" cy="342900"/>
          </a:xfrm>
          <a:prstGeom prst="rect">
            <a:avLst/>
          </a:prstGeom>
          <a:gradFill rotWithShape="1">
            <a:gsLst>
              <a:gs pos="0">
                <a:srgbClr val="164A86"/>
              </a:gs>
              <a:gs pos="100000">
                <a:srgbClr val="2F80D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4차 산업혁명시대에 필요한 역량 중심 혁신교육 글로벌 선도대학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5825" y="2066925"/>
            <a:ext cx="971550" cy="314325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7F7F7F"/>
              </a:gs>
              <a:gs pos="100000">
                <a:srgbClr val="A6A6A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발전목표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71675" y="2038350"/>
            <a:ext cx="626745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400" b="1" i="0" spc="-40">
                <a:solidFill>
                  <a:srgbClr val="0B2A5B"/>
                </a:solidFill>
                <a:latin typeface="맑은 고딕"/>
                <a:ea typeface="맑은 고딕"/>
              </a:rPr>
              <a:t>전국 대학 상위 10% 이내 교육 성과 창출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5825" y="2495550"/>
            <a:ext cx="971550" cy="66675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F7F7F"/>
              </a:gs>
              <a:gs pos="100000">
                <a:srgbClr val="A6A6A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특성화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71675" y="2457450"/>
            <a:ext cx="62674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250" b="0" i="0" spc="-40">
                <a:solidFill>
                  <a:srgbClr val="1A1A1A"/>
                </a:solidFill>
                <a:latin typeface="맑은 고딕"/>
                <a:ea typeface="맑은 고딕"/>
              </a:rPr>
              <a:t>목표 : CT · Healthcare · IT 육성을 통한 미래사회 대응 융복합 교육 플랫폼 구축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71675" y="2857500"/>
            <a:ext cx="23622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250" b="0" i="0" spc="-40">
                <a:solidFill>
                  <a:srgbClr val="1A1A1A"/>
                </a:solidFill>
                <a:latin typeface="맑은 고딕"/>
                <a:ea typeface="맑은 고딕"/>
              </a:rPr>
              <a:t>학문분야 : CT, Healthcare,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29125" y="2857500"/>
            <a:ext cx="3810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525" tIns="0" rIns="9525" bIns="0"/>
          <a:lstStyle/>
          <a:p>
            <a:pPr algn="ctr"/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교육분야 : 국내 · 외 산업체 맞춤형 교육 학제간 융복합 교육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5825" y="3238500"/>
            <a:ext cx="971550" cy="24003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7F7F7F"/>
              </a:gs>
              <a:gs pos="100000">
                <a:srgbClr val="A6A6A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5대 전략</a:t>
            </a:r>
          </a:p>
          <a:p>
            <a:pPr algn="ctr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  <a:p>
            <a:pPr algn="ctr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23개</a:t>
            </a:r>
          </a:p>
          <a:p>
            <a:pPr algn="ctr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과제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71675" y="3238500"/>
            <a:ext cx="1666875" cy="438150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525" tIns="0" rIns="9525" bIns="0"/>
          <a:lstStyle/>
          <a:p>
            <a:pPr algn="ctr"/>
            <a:r>
              <a:rPr sz="1200" b="1" i="0" spc="-40">
                <a:solidFill>
                  <a:srgbClr val="FFFFFF"/>
                </a:solidFill>
                <a:latin typeface="맑은 고딕"/>
                <a:ea typeface="맑은 고딕"/>
              </a:rPr>
              <a:t>인프라 및 시스템 혁신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38550" y="3238500"/>
            <a:ext cx="4600575" cy="43815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6650" y="3238500"/>
            <a:ext cx="4552950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1. 첨단 캠퍼스 조성  2. 대학 브랜드 차별화  3. 재정 건전성 확보  4. 행정시스템 효율화</a:t>
            </a:r>
          </a:p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5. 성과기반 평가체계 운영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71675" y="3743325"/>
            <a:ext cx="1666875" cy="685800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525" tIns="0" rIns="9525" bIns="0"/>
          <a:lstStyle/>
          <a:p>
            <a:pPr algn="ctr"/>
            <a:r>
              <a:rPr sz="1200" b="1" i="0" spc="-40">
                <a:solidFill>
                  <a:srgbClr val="FFFFFF"/>
                </a:solidFill>
                <a:latin typeface="맑은 고딕"/>
                <a:ea typeface="맑은 고딕"/>
              </a:rPr>
              <a:t>교육 운영 혁신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38550" y="3743325"/>
            <a:ext cx="460057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76650" y="3743325"/>
            <a:ext cx="4552950" cy="68580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6. 전공 역량 교육체계 선진화  7. 핵심역량 중심 교양교육 강화</a:t>
            </a:r>
          </a:p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8. 교과 연계 비교과 교육 활성화  9. 상호작용 촉진 교수·학습지원체계 고도화</a:t>
            </a:r>
          </a:p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10. 개인 맞춤형 학생상담지도  11. 백석 인재 선발  12. 대학원 교육역량 강화</a:t>
            </a:r>
          </a:p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13. 교육의 질 관리체계 선진화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71675" y="4495800"/>
            <a:ext cx="1666875" cy="438150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525" tIns="0" rIns="9525" bIns="0"/>
          <a:lstStyle/>
          <a:p>
            <a:pPr algn="ctr"/>
            <a:r>
              <a:rPr sz="1200" b="1" i="0" spc="-40">
                <a:solidFill>
                  <a:srgbClr val="FFFFFF"/>
                </a:solidFill>
                <a:latin typeface="맑은 고딕"/>
                <a:ea typeface="맑은 고딕"/>
              </a:rPr>
              <a:t>지역사회·산학협력 혁신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8550" y="4495800"/>
            <a:ext cx="4600575" cy="43815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6650" y="4495800"/>
            <a:ext cx="4552950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14. 산학협력활성화  15. 지역사회 봉사·공헌 활동 고도화  16. 지역 사회 평생교육체제</a:t>
            </a:r>
          </a:p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구축  17. 경력 기반 취·창업 지원체계 고도화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71675" y="5010150"/>
            <a:ext cx="1666875" cy="285750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525" tIns="0" rIns="9525" bIns="0"/>
          <a:lstStyle/>
          <a:p>
            <a:pPr algn="ctr"/>
            <a:r>
              <a:rPr sz="1200" b="1" i="0" spc="-40">
                <a:solidFill>
                  <a:srgbClr val="FFFFFF"/>
                </a:solidFill>
                <a:latin typeface="맑은 고딕"/>
                <a:ea typeface="맑은 고딕"/>
              </a:rPr>
              <a:t>글로벌 혁신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38550" y="5010150"/>
            <a:ext cx="4600575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6650" y="5010150"/>
            <a:ext cx="4552950" cy="2857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18. 글로벌 교류 확대  19. 재학생 글로벌 역량 제고  20. 해외 취업률 증대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71675" y="5353050"/>
            <a:ext cx="1666875" cy="285750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525" tIns="0" rIns="9525" bIns="0"/>
          <a:lstStyle/>
          <a:p>
            <a:pPr algn="ctr"/>
            <a:r>
              <a:rPr sz="1200" b="1" i="0" spc="-40">
                <a:solidFill>
                  <a:srgbClr val="FFFFFF"/>
                </a:solidFill>
                <a:latin typeface="맑은 고딕"/>
                <a:ea typeface="맑은 고딕"/>
              </a:rPr>
              <a:t>대학 구성원 혁신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38550" y="5353050"/>
            <a:ext cx="4600575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6650" y="5353050"/>
            <a:ext cx="4552950" cy="2857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05000"/>
              </a:lnSpc>
            </a:pPr>
            <a:r>
              <a:rPr sz="950" b="0" i="0" spc="-40">
                <a:solidFill>
                  <a:srgbClr val="1A1A1A"/>
                </a:solidFill>
                <a:latin typeface="맑은 고딕"/>
                <a:ea typeface="맑은 고딕"/>
              </a:rPr>
              <a:t>21. 교원 역량 강화  22. 직원 역량 제고  23. 구성원 소통 및 복지향상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5825" y="5715000"/>
            <a:ext cx="971550" cy="62865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7F7F7F"/>
              </a:gs>
              <a:gs pos="100000">
                <a:srgbClr val="A6A6A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58개</a:t>
            </a:r>
          </a:p>
          <a:p>
            <a:pPr algn="ctr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실천계획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71675" y="5715000"/>
            <a:ext cx="6267450" cy="628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1F4E8C"/>
              </a:gs>
              <a:gs pos="100000">
                <a:srgbClr val="4F8FD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028825" y="5772150"/>
            <a:ext cx="1181100" cy="5143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28825" y="5772150"/>
            <a:ext cx="1181100" cy="5143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ctr">
              <a:lnSpc>
                <a:spcPct val="100000"/>
              </a:lnSpc>
            </a:pPr>
            <a:r>
              <a:rPr sz="850" b="0" i="0" spc="-40">
                <a:solidFill>
                  <a:srgbClr val="1A1A1A"/>
                </a:solidFill>
                <a:latin typeface="맑은 고딕"/>
                <a:ea typeface="맑은 고딕"/>
              </a:rPr>
              <a:t>인프라 및 시스템혁신</a:t>
            </a:r>
          </a:p>
          <a:p>
            <a:pPr algn="ctr">
              <a:lnSpc>
                <a:spcPct val="100000"/>
              </a:lnSpc>
            </a:pPr>
            <a:r>
              <a:rPr sz="1500" b="1" i="0" spc="-40">
                <a:solidFill>
                  <a:srgbClr val="1F3B70"/>
                </a:solidFill>
                <a:latin typeface="맑은 고딕"/>
                <a:ea typeface="맑은 고딕"/>
              </a:rPr>
              <a:t>11개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67075" y="5772150"/>
            <a:ext cx="1181100" cy="5143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67075" y="5772150"/>
            <a:ext cx="1181100" cy="5143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ctr">
              <a:lnSpc>
                <a:spcPct val="100000"/>
              </a:lnSpc>
            </a:pPr>
            <a:r>
              <a:rPr sz="900" b="0" i="0" spc="-40">
                <a:solidFill>
                  <a:srgbClr val="1A1A1A"/>
                </a:solidFill>
                <a:latin typeface="맑은 고딕"/>
                <a:ea typeface="맑은 고딕"/>
              </a:rPr>
              <a:t>교육운영혁신</a:t>
            </a:r>
          </a:p>
          <a:p>
            <a:pPr algn="ctr">
              <a:lnSpc>
                <a:spcPct val="100000"/>
              </a:lnSpc>
            </a:pPr>
            <a:r>
              <a:rPr sz="1500" b="1" i="0" spc="-40">
                <a:solidFill>
                  <a:srgbClr val="1F3B70"/>
                </a:solidFill>
                <a:latin typeface="맑은 고딕"/>
                <a:ea typeface="맑은 고딕"/>
              </a:rPr>
              <a:t>23개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05325" y="5772150"/>
            <a:ext cx="1181100" cy="5143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05325" y="5772150"/>
            <a:ext cx="1181100" cy="5143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ctr">
              <a:lnSpc>
                <a:spcPct val="100000"/>
              </a:lnSpc>
            </a:pPr>
            <a:r>
              <a:rPr sz="850" b="0" i="0" spc="-40">
                <a:solidFill>
                  <a:srgbClr val="1A1A1A"/>
                </a:solidFill>
                <a:latin typeface="맑은 고딕"/>
                <a:ea typeface="맑은 고딕"/>
              </a:rPr>
              <a:t>지역사회·산학협력혁신</a:t>
            </a:r>
          </a:p>
          <a:p>
            <a:pPr algn="ctr">
              <a:lnSpc>
                <a:spcPct val="100000"/>
              </a:lnSpc>
            </a:pPr>
            <a:r>
              <a:rPr sz="1500" b="1" i="0" spc="-40">
                <a:solidFill>
                  <a:srgbClr val="1F3B70"/>
                </a:solidFill>
                <a:latin typeface="맑은 고딕"/>
                <a:ea typeface="맑은 고딕"/>
              </a:rPr>
              <a:t>9개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43575" y="5772150"/>
            <a:ext cx="1181100" cy="5143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43575" y="5772150"/>
            <a:ext cx="1181100" cy="5143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ctr">
              <a:lnSpc>
                <a:spcPct val="100000"/>
              </a:lnSpc>
            </a:pPr>
            <a:r>
              <a:rPr sz="900" b="0" i="0" spc="-40">
                <a:solidFill>
                  <a:srgbClr val="1A1A1A"/>
                </a:solidFill>
                <a:latin typeface="맑은 고딕"/>
                <a:ea typeface="맑은 고딕"/>
              </a:rPr>
              <a:t>글로벌혁신</a:t>
            </a:r>
          </a:p>
          <a:p>
            <a:pPr algn="ctr">
              <a:lnSpc>
                <a:spcPct val="100000"/>
              </a:lnSpc>
            </a:pPr>
            <a:r>
              <a:rPr sz="1500" b="1" i="0" spc="-40">
                <a:solidFill>
                  <a:srgbClr val="1F3B70"/>
                </a:solidFill>
                <a:latin typeface="맑은 고딕"/>
                <a:ea typeface="맑은 고딕"/>
              </a:rPr>
              <a:t>8개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81825" y="5772150"/>
            <a:ext cx="1181100" cy="5143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81825" y="5772150"/>
            <a:ext cx="1181100" cy="5143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ctr">
              <a:lnSpc>
                <a:spcPct val="100000"/>
              </a:lnSpc>
            </a:pPr>
            <a:r>
              <a:rPr sz="900" b="0" i="0" spc="-40">
                <a:solidFill>
                  <a:srgbClr val="1A1A1A"/>
                </a:solidFill>
                <a:latin typeface="맑은 고딕"/>
                <a:ea typeface="맑은 고딕"/>
              </a:rPr>
              <a:t>대학구성원혁신</a:t>
            </a:r>
          </a:p>
          <a:p>
            <a:pPr algn="ctr">
              <a:lnSpc>
                <a:spcPct val="100000"/>
              </a:lnSpc>
            </a:pPr>
            <a:r>
              <a:rPr sz="1500" b="1" i="0" spc="-40">
                <a:solidFill>
                  <a:srgbClr val="1F3B70"/>
                </a:solidFill>
                <a:latin typeface="맑은 고딕"/>
                <a:ea typeface="맑은 고딕"/>
              </a:rPr>
              <a:t>7개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5750" y="6696075"/>
            <a:ext cx="8572500" cy="152400"/>
          </a:xfrm>
          <a:prstGeom prst="rect">
            <a:avLst/>
          </a:prstGeom>
          <a:noFill/>
        </p:spPr>
        <p:txBody>
          <a:bodyPr wrap="square" lIns="19050" tIns="0" rIns="0" bIns="0" anchor="ctr"/>
          <a:lstStyle/>
          <a:p>
            <a:pPr algn="l"/>
            <a:r>
              <a:rPr sz="650" b="0" i="0" spc="-40">
                <a:solidFill>
                  <a:srgbClr val="7F7F7F"/>
                </a:solidFill>
                <a:latin typeface="맑은 고딕"/>
                <a:ea typeface="맑은 고딕"/>
              </a:rPr>
              <a:t>Source : 백석대학교 2023 하반기 자체진단평가보고서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내부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2552700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2457450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7s - ② </a:t>
            </a:r>
            <a:r>
              <a:rPr sz="1400" b="0" i="0" spc="-40">
                <a:solidFill>
                  <a:srgbClr val="FFFFFF"/>
                </a:solidFill>
                <a:latin typeface="맑은 고딕"/>
                <a:ea typeface="맑은 고딕"/>
              </a:rPr>
              <a:t>Style: 교육 과정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125" y="1524000"/>
            <a:ext cx="3810000" cy="4333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nip Single Corner Rectangle 11"/>
          <p:cNvSpPr/>
          <p:nvPr/>
        </p:nvSpPr>
        <p:spPr>
          <a:xfrm>
            <a:off x="647700" y="1428750"/>
            <a:ext cx="1304925" cy="285750"/>
          </a:xfrm>
          <a:prstGeom prst="snip1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A0A0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교양 교과과정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3375" y="149542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1733550"/>
            <a:ext cx="3524250" cy="4048125"/>
          </a:xfrm>
          <a:prstGeom prst="rect">
            <a:avLst/>
          </a:prstGeom>
          <a:noFill/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4개 영역 구성: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백석정체성, 기초교양, 심화교양, 소양교양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핵심 목표: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기독교적 인성과 섬김을 갖춘 인재 양성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창의융합형 사고력과 글로벌 소통 능력 강화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공동체적 실천과 자기개발 역량 배양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이수 체계: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졸업 시 45학점 이상 필수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기초교양(기초학문·정보기술·의사소통) 비중 높음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운영 특징: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교양과정심의위원회 중심의 체계적 개편 절차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영역별 균형 편성과 평가 주기적 개선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주요 개선 방향: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학문간 융복합 강화, 글로벌 소통 중심 교과목 확대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소양교양 내 리더십·사회봉사 연계 프로그램 활성화</a:t>
            </a:r>
          </a:p>
        </p:txBody>
      </p:sp>
      <p:sp>
        <p:nvSpPr>
          <p:cNvPr id="15" name="Merge 14"/>
          <p:cNvSpPr/>
          <p:nvPr/>
        </p:nvSpPr>
        <p:spPr>
          <a:xfrm>
            <a:off x="2333625" y="5867400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125" y="5981700"/>
            <a:ext cx="3810000" cy="542925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0" tIns="0" rIns="76200" bIns="0"/>
          <a:lstStyle/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교양과정은 인성·의사소통·융합역량 중심으로, 학문 기초와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실천을 연결하는 균형형 인재 양성 목표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4875" y="1524000"/>
            <a:ext cx="3790950" cy="4333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nip Single Corner Rectangle 17"/>
          <p:cNvSpPr/>
          <p:nvPr/>
        </p:nvSpPr>
        <p:spPr>
          <a:xfrm>
            <a:off x="4743450" y="1428750"/>
            <a:ext cx="1304925" cy="285750"/>
          </a:xfrm>
          <a:prstGeom prst="snip1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A0A0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전공 교과과정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0075" y="149542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4425" y="1733550"/>
            <a:ext cx="3505200" cy="4048125"/>
          </a:xfrm>
          <a:prstGeom prst="rect">
            <a:avLst/>
          </a:prstGeom>
          <a:noFill/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전공 교과목 편성 및 개설 기준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전공별 학점의 150~170% 범위에서 교과목 개설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학생의 전공 이수 현황, 대내외 요구 분석, 수요조사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등을 종합하여 개설 여부 결정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교육과정 구성 체계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기초-핵심-심화-응용 단계로 구분하여 학문적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심화와 실무 역량을 균형 있게 반영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학부 특성과 수업 난이도, 역량 반영에 따라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교과목 비율이 다름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전공별 교과과정 편성 규정 및 운영방향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이론·실험·실습·통합형(이론+실습)으로 구분함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교과목 및 학점은 학문특성, 산업체 요구, 학생 수준,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국가·사회변화 및 산업 수요에 맞게 조정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전공별 교과과정 운영 현황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실험·실습 중심 교과 비중이 높을수록 산업 및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실무 역량 중심의 교육과정 운영</a:t>
            </a:r>
          </a:p>
        </p:txBody>
      </p:sp>
      <p:sp>
        <p:nvSpPr>
          <p:cNvPr id="21" name="Merge 20"/>
          <p:cNvSpPr/>
          <p:nvPr/>
        </p:nvSpPr>
        <p:spPr>
          <a:xfrm>
            <a:off x="6419850" y="5867400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14875" y="5981700"/>
            <a:ext cx="3790950" cy="542925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0" tIns="0" rIns="76200" bIns="0"/>
          <a:lstStyle/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산업구조 변화와 기술 수요에 대응하기 위해, 전공별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교육과정은 실무형 교과 확대 및 지역·산업 연계형 인재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양성을 강화하는 방향으로 개편되고 있음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750" y="6696075"/>
            <a:ext cx="8572500" cy="152400"/>
          </a:xfrm>
          <a:prstGeom prst="rect">
            <a:avLst/>
          </a:prstGeom>
          <a:noFill/>
        </p:spPr>
        <p:txBody>
          <a:bodyPr wrap="square" lIns="19050" tIns="0" rIns="0" bIns="0" anchor="ctr"/>
          <a:lstStyle/>
          <a:p>
            <a:pPr algn="l"/>
            <a:r>
              <a:rPr sz="650" b="0" i="0" spc="-40">
                <a:solidFill>
                  <a:srgbClr val="7F7F7F"/>
                </a:solidFill>
                <a:latin typeface="맑은 고딕"/>
                <a:ea typeface="맑은 고딕"/>
              </a:rPr>
              <a:t>Source : 백석대학교 2023 하반기 자체진단평가보고서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내부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2552700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2457450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7s - ② </a:t>
            </a:r>
            <a:r>
              <a:rPr sz="1400" b="0" i="0" spc="-40">
                <a:solidFill>
                  <a:srgbClr val="FFFFFF"/>
                </a:solidFill>
                <a:latin typeface="맑은 고딕"/>
                <a:ea typeface="맑은 고딕"/>
              </a:rPr>
              <a:t>Style: 교육 과정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125" y="1524000"/>
            <a:ext cx="3810000" cy="4333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nip Single Corner Rectangle 11"/>
          <p:cNvSpPr/>
          <p:nvPr/>
        </p:nvSpPr>
        <p:spPr>
          <a:xfrm>
            <a:off x="647700" y="1428750"/>
            <a:ext cx="2190750" cy="285750"/>
          </a:xfrm>
          <a:prstGeom prst="snip1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A0A0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부·복수·다전공·융합전공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3375" y="149542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1733550"/>
            <a:ext cx="3524250" cy="4048125"/>
          </a:xfrm>
          <a:prstGeom prst="rect">
            <a:avLst/>
          </a:prstGeom>
          <a:noFill/>
        </p:spPr>
        <p:txBody>
          <a:bodyPr wrap="square" lIns="28575" tIns="19050" rIns="28575" bIns="19050" anchor="t"/>
          <a:lstStyle/>
          <a:p>
            <a:pPr algn="l">
              <a:lnSpc>
                <a:spcPct val="112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복수전공: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복수 및 다중, 융합, 기타 전공의 인정 가능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복수전공의 범위, 학점 이수 및 학위수여 사항 명시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부전공: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주전공 이외 다른 전공 분야의 전공과목으로 학점을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취득하여 부전공 이수 인정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이수학점, 자격취득 등 명시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나노디그리: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융복합 교육 위한 나노디그리 과정 운영 사항 제시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나노디그리 운영 신청, 과정 이수 및 사후처리 등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세부사항 명시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융합전공: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2개 이상의 전공이 연계 또는 융합된 융합 전공을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운영하고 있으나, 실적이 미미한 편으로 대학차원의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    제도적 노력이 요청됨</a:t>
            </a:r>
          </a:p>
        </p:txBody>
      </p:sp>
      <p:sp>
        <p:nvSpPr>
          <p:cNvPr id="15" name="Merge 14"/>
          <p:cNvSpPr/>
          <p:nvPr/>
        </p:nvSpPr>
        <p:spPr>
          <a:xfrm>
            <a:off x="2333625" y="5867400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125" y="5981700"/>
            <a:ext cx="3810000" cy="542925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0" tIns="0" rIns="76200" bIns="0"/>
          <a:lstStyle/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다양한 전공 선택과 융합 교육을 통해 학문 간 연계성과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실무역량을 강화하나, 융합전공 활성화를 위한 대학 차원의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제도적 보완이 요구됨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4875" y="1524000"/>
            <a:ext cx="3790950" cy="43338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nip Single Corner Rectangle 17"/>
          <p:cNvSpPr/>
          <p:nvPr/>
        </p:nvSpPr>
        <p:spPr>
          <a:xfrm>
            <a:off x="4743450" y="1428750"/>
            <a:ext cx="2190750" cy="285750"/>
          </a:xfrm>
          <a:prstGeom prst="snip1Rect">
            <a:avLst>
              <a:gd name="adj" fmla="val 50000"/>
            </a:avLst>
          </a:prstGeom>
          <a:gradFill rotWithShape="1">
            <a:gsLst>
              <a:gs pos="0">
                <a:srgbClr val="6B6B6B"/>
              </a:gs>
              <a:gs pos="100000">
                <a:srgbClr val="A0A0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3350" tIns="0" rIns="0" bIns="0"/>
          <a:lstStyle/>
          <a:p>
            <a:pPr algn="l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교육과정 운영·평가 체계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0075" y="149542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4425" y="1733550"/>
            <a:ext cx="3505200" cy="40481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>
              <a:lnSpc>
                <a:spcPct val="112000"/>
              </a:lnSpc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운영목적: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대학 교육과정의 체계적 운영·개선 및 CQI 구축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시대·산업 변화에 대응한 교양·전공 교육 혁신 추진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주요 기능: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교육과정심의위원회 구성 및 학기별 운영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교양·전공 교육과정 개발, 조정, 평가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외부전문가 및 학부 교수 참여로 전문성 확보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교육과정 CQI 및 전산관리시스템 운영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평가 및 개선 시스템: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매학년도말 교육과정 운영 실적 및 성과 평가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평가 결과를 기반으로 차년도 교육과정 개편 추진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150" b="1" i="0" spc="-40">
                <a:solidFill>
                  <a:srgbClr val="0B2A5B"/>
                </a:solidFill>
                <a:latin typeface="맑은 고딕"/>
                <a:ea typeface="맑은 고딕"/>
              </a:rPr>
              <a:t>핵심 성과: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체계적인 교육과정 심의 구조 정착</a:t>
            </a:r>
          </a:p>
          <a:p>
            <a:pPr algn="l">
              <a:lnSpc>
                <a:spcPct val="112000"/>
              </a:lnSpc>
            </a:pPr>
            <a:r>
              <a:rPr sz="1150" b="0" i="0" spc="-40">
                <a:solidFill>
                  <a:srgbClr val="1A1A1A"/>
                </a:solidFill>
                <a:latin typeface="맑은 고딕"/>
                <a:ea typeface="맑은 고딕"/>
              </a:rPr>
              <a:t>→ 산업·학생 요구가 반영된 실질적 교육과정 개편 운영</a:t>
            </a:r>
          </a:p>
        </p:txBody>
      </p:sp>
      <p:sp>
        <p:nvSpPr>
          <p:cNvPr id="21" name="Merge 20"/>
          <p:cNvSpPr/>
          <p:nvPr/>
        </p:nvSpPr>
        <p:spPr>
          <a:xfrm>
            <a:off x="6419850" y="5867400"/>
            <a:ext cx="381000" cy="114300"/>
          </a:xfrm>
          <a:prstGeom prst="flowChartMerge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14875" y="5981700"/>
            <a:ext cx="3790950" cy="542925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0" tIns="0" rIns="76200" bIns="0"/>
          <a:lstStyle/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체계적인 교육과정 심의와 CQI 운영을 통해 지속가능한</a:t>
            </a:r>
          </a:p>
          <a:p>
            <a:pPr algn="l">
              <a:lnSpc>
                <a:spcPct val="105000"/>
              </a:lnSpc>
            </a:pPr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교육혁신과 학생 중심의 학습 환경을 실현하고자 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750" y="6696075"/>
            <a:ext cx="8572500" cy="152400"/>
          </a:xfrm>
          <a:prstGeom prst="rect">
            <a:avLst/>
          </a:prstGeom>
          <a:noFill/>
        </p:spPr>
        <p:txBody>
          <a:bodyPr wrap="square" lIns="19050" tIns="0" rIns="0" bIns="0" anchor="ctr"/>
          <a:lstStyle/>
          <a:p>
            <a:pPr algn="l"/>
            <a:r>
              <a:rPr sz="650" b="0" i="0" spc="-40">
                <a:solidFill>
                  <a:srgbClr val="7F7F7F"/>
                </a:solidFill>
                <a:latin typeface="맑은 고딕"/>
                <a:ea typeface="맑은 고딕"/>
              </a:rPr>
              <a:t>Source : 백석대학교 2023 하반기 자체진단평가보고서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4875" y="638175"/>
            <a:ext cx="7905750" cy="28575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nip Single Corner Rectangle 2"/>
          <p:cNvSpPr/>
          <p:nvPr/>
        </p:nvSpPr>
        <p:spPr>
          <a:xfrm flipV="1">
            <a:off x="904875" y="209550"/>
            <a:ext cx="2800350" cy="457200"/>
          </a:xfrm>
          <a:prstGeom prst="snip1Rect">
            <a:avLst>
              <a:gd name="adj" fmla="val 22916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4300"/>
            <a:ext cx="666750" cy="72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7275" y="295275"/>
            <a:ext cx="285750" cy="285750"/>
          </a:xfrm>
          <a:prstGeom prst="rect">
            <a:avLst/>
          </a:prstGeom>
          <a:solidFill>
            <a:srgbClr val="1F3B7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 spc="-4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09550"/>
            <a:ext cx="2276475" cy="43815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2200" b="1" i="0" spc="-40">
                <a:solidFill>
                  <a:srgbClr val="FFFFFF"/>
                </a:solidFill>
                <a:latin typeface="맑은 고딕"/>
                <a:ea typeface="맑은 고딕"/>
              </a:rPr>
              <a:t>내부 환경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0" y="47625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1" i="0" spc="-40">
                <a:solidFill>
                  <a:srgbClr val="0B2A5B"/>
                </a:solidFill>
                <a:latin typeface="맑은 고딕"/>
                <a:ea typeface="맑은 고딕"/>
              </a:rPr>
              <a:t>BU VISION </a:t>
            </a:r>
            <a:r>
              <a:rPr sz="1050" b="1" i="0" spc="-40">
                <a:solidFill>
                  <a:srgbClr val="3C8FD6"/>
                </a:solidFill>
                <a:latin typeface="맑은 고딕"/>
                <a:ea typeface="맑은 고딕"/>
              </a:rPr>
              <a:t>2030</a:t>
            </a:r>
          </a:p>
        </p:txBody>
      </p:sp>
      <p:sp>
        <p:nvSpPr>
          <p:cNvPr id="8" name="Snip Single Corner Rectangle 7"/>
          <p:cNvSpPr/>
          <p:nvPr/>
        </p:nvSpPr>
        <p:spPr>
          <a:xfrm flipV="1">
            <a:off x="304800" y="923925"/>
            <a:ext cx="2952750" cy="352425"/>
          </a:xfrm>
          <a:prstGeom prst="snip1Rect">
            <a:avLst>
              <a:gd name="adj" fmla="val 27027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923925"/>
            <a:ext cx="2857500" cy="352425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l"/>
            <a:r>
              <a:rPr sz="1400" b="1" i="0" spc="-40">
                <a:solidFill>
                  <a:srgbClr val="FFFFFF"/>
                </a:solidFill>
                <a:latin typeface="맑은 고딕"/>
                <a:ea typeface="맑은 고딕"/>
              </a:rPr>
              <a:t>7s - ③ </a:t>
            </a:r>
            <a:r>
              <a:rPr sz="1400" b="0" i="0" spc="-40">
                <a:solidFill>
                  <a:srgbClr val="FFFFFF"/>
                </a:solidFill>
                <a:latin typeface="맑은 고딕"/>
                <a:ea typeface="맑은 고딕"/>
              </a:rPr>
              <a:t>Students: 학생 현황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1276350"/>
            <a:ext cx="8477250" cy="5391150"/>
          </a:xfrm>
          <a:prstGeom prst="rect">
            <a:avLst/>
          </a:prstGeom>
          <a:solidFill>
            <a:srgbClr val="EFEFEF"/>
          </a:solidFill>
          <a:ln w="12700">
            <a:solidFill>
              <a:srgbClr val="9D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125" y="1590675"/>
            <a:ext cx="7886700" cy="4267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39125" y="1495425"/>
            <a:ext cx="257175" cy="2476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 spc="-40">
                <a:solidFill>
                  <a:srgbClr val="1F3B70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9650" y="1905000"/>
            <a:ext cx="2105025" cy="428625"/>
          </a:xfrm>
          <a:prstGeom prst="rect">
            <a:avLst/>
          </a:prstGeom>
          <a:gradFill rotWithShape="1">
            <a:gsLst>
              <a:gs pos="0">
                <a:srgbClr val="7F7F7F"/>
              </a:gs>
              <a:gs pos="100000">
                <a:srgbClr val="8C8C8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학생정원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9925" y="1905000"/>
            <a:ext cx="2505075" cy="428625"/>
          </a:xfrm>
          <a:prstGeom prst="rect">
            <a:avLst/>
          </a:prstGeom>
          <a:gradFill rotWithShape="1">
            <a:gsLst>
              <a:gs pos="0">
                <a:srgbClr val="7F7F7F"/>
              </a:gs>
              <a:gs pos="100000">
                <a:srgbClr val="8C8C8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300" b="1" i="0" spc="-40">
                <a:solidFill>
                  <a:srgbClr val="FFFFFF"/>
                </a:solidFill>
                <a:latin typeface="맑은 고딕"/>
                <a:ea typeface="맑은 고딕"/>
              </a:rPr>
              <a:t>재학생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0" y="1905000"/>
            <a:ext cx="2314575" cy="200025"/>
          </a:xfrm>
          <a:prstGeom prst="rect">
            <a:avLst/>
          </a:prstGeom>
          <a:gradFill rotWithShape="1">
            <a:gsLst>
              <a:gs pos="0">
                <a:srgbClr val="7F7F7F"/>
              </a:gs>
              <a:gs pos="100000">
                <a:srgbClr val="8C8C8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200" b="1" i="0" spc="-40">
                <a:solidFill>
                  <a:srgbClr val="FFFFFF"/>
                </a:solidFill>
                <a:latin typeface="맑은 고딕"/>
                <a:ea typeface="맑은 고딕"/>
              </a:rPr>
              <a:t>성별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10250" y="2143125"/>
            <a:ext cx="1104900" cy="190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7F7F"/>
              </a:gs>
              <a:gs pos="100000">
                <a:srgbClr val="8C8C8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150" b="1" i="0" spc="-40">
                <a:solidFill>
                  <a:srgbClr val="FFFFFF"/>
                </a:solidFill>
                <a:latin typeface="맑은 고딕"/>
                <a:ea typeface="맑은 고딕"/>
              </a:rPr>
              <a:t>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10400" y="2143125"/>
            <a:ext cx="1114425" cy="190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7F7F"/>
              </a:gs>
              <a:gs pos="100000">
                <a:srgbClr val="8C8C8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8575" tIns="19050" rIns="28575" bIns="19050"/>
          <a:lstStyle/>
          <a:p>
            <a:pPr algn="ctr"/>
            <a:r>
              <a:rPr sz="1150" b="1" i="0" spc="-40">
                <a:solidFill>
                  <a:srgbClr val="FFFFFF"/>
                </a:solidFill>
                <a:latin typeface="맑은 고딕"/>
                <a:ea typeface="맑은 고딕"/>
              </a:rPr>
              <a:t>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9650" y="2400300"/>
            <a:ext cx="2105025" cy="4286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3F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525" tIns="0" rIns="9525" bIns="0"/>
          <a:lstStyle/>
          <a:p>
            <a:pPr algn="ctr">
              <a:lnSpc>
                <a:spcPct val="100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11,760명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9925" y="2400300"/>
            <a:ext cx="2505075" cy="4286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3F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525" tIns="0" rIns="9525" bIns="0"/>
          <a:lstStyle/>
          <a:p>
            <a:pPr algn="ctr">
              <a:lnSpc>
                <a:spcPct val="100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11,586명 (정원 내 : 10,510명</a:t>
            </a:r>
          </a:p>
          <a:p>
            <a:pPr algn="ctr">
              <a:lnSpc>
                <a:spcPct val="100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                정원 외 : 1,076명)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0250" y="2400300"/>
            <a:ext cx="1104900" cy="4286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3F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525" tIns="0" rIns="9525" bIns="0"/>
          <a:lstStyle/>
          <a:p>
            <a:pPr algn="ctr">
              <a:lnSpc>
                <a:spcPct val="100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5,106명(44%)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10400" y="2400300"/>
            <a:ext cx="1114425" cy="4286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3F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525" tIns="0" rIns="9525" bIns="0"/>
          <a:lstStyle/>
          <a:p>
            <a:pPr algn="ctr">
              <a:lnSpc>
                <a:spcPct val="100000"/>
              </a:lnSpc>
            </a:pPr>
            <a:r>
              <a:rPr sz="1100" b="0" i="0" spc="-40">
                <a:solidFill>
                  <a:srgbClr val="1A1A1A"/>
                </a:solidFill>
                <a:latin typeface="맑은 고딕"/>
                <a:ea typeface="맑은 고딕"/>
              </a:rPr>
              <a:t>6,480명(56%)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3286125"/>
            <a:ext cx="4429125" cy="2333625"/>
          </a:xfrm>
          <a:prstGeom prst="rect">
            <a:avLst/>
          </a:prstGeom>
        </p:spPr>
      </p:pic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5857875" y="3333750"/>
          <a:ext cx="2095500" cy="20955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191250" y="3543300"/>
            <a:ext cx="666750" cy="34290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ctr">
              <a:lnSpc>
                <a:spcPct val="120000"/>
              </a:lnSpc>
            </a:pPr>
            <a:r>
              <a:rPr sz="900" b="0" i="0" spc="-40">
                <a:solidFill>
                  <a:srgbClr val="1A1A1A"/>
                </a:solidFill>
                <a:latin typeface="맑은 고딕"/>
                <a:ea typeface="맑은 고딕"/>
              </a:rPr>
              <a:t>그외지역</a:t>
            </a:r>
          </a:p>
          <a:p>
            <a:pPr algn="ctr">
              <a:lnSpc>
                <a:spcPct val="120000"/>
              </a:lnSpc>
            </a:pPr>
            <a:r>
              <a:rPr sz="900" b="0" i="0" spc="-40">
                <a:solidFill>
                  <a:srgbClr val="1A1A1A"/>
                </a:solidFill>
                <a:latin typeface="맑은 고딕"/>
                <a:ea typeface="맑은 고딕"/>
              </a:rPr>
              <a:t>13.8%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29300" y="4076700"/>
            <a:ext cx="666750" cy="34290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ctr">
              <a:lnSpc>
                <a:spcPct val="120000"/>
              </a:lnSpc>
            </a:pPr>
            <a:r>
              <a:rPr sz="900" b="0" i="0" spc="-40">
                <a:solidFill>
                  <a:srgbClr val="1A1A1A"/>
                </a:solidFill>
                <a:latin typeface="맑은 고딕"/>
                <a:ea typeface="맑은 고딕"/>
              </a:rPr>
              <a:t>충청권</a:t>
            </a:r>
          </a:p>
          <a:p>
            <a:pPr algn="ctr">
              <a:lnSpc>
                <a:spcPct val="120000"/>
              </a:lnSpc>
            </a:pPr>
            <a:r>
              <a:rPr sz="900" b="0" i="0" spc="-40">
                <a:solidFill>
                  <a:srgbClr val="1A1A1A"/>
                </a:solidFill>
                <a:latin typeface="맑은 고딕"/>
                <a:ea typeface="맑은 고딕"/>
              </a:rPr>
              <a:t>15.9%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2800" y="4648200"/>
            <a:ext cx="666750" cy="342900"/>
          </a:xfrm>
          <a:prstGeom prst="rect">
            <a:avLst/>
          </a:prstGeom>
          <a:noFill/>
        </p:spPr>
        <p:txBody>
          <a:bodyPr wrap="square" lIns="28575" tIns="19050" rIns="28575" bIns="19050" anchor="ctr"/>
          <a:lstStyle/>
          <a:p>
            <a:pPr algn="ctr">
              <a:lnSpc>
                <a:spcPct val="120000"/>
              </a:lnSpc>
            </a:pPr>
            <a:r>
              <a:rPr sz="900" b="0" i="0" spc="-40">
                <a:solidFill>
                  <a:srgbClr val="FFFFFF"/>
                </a:solidFill>
                <a:latin typeface="맑은 고딕"/>
                <a:ea typeface="맑은 고딕"/>
              </a:rPr>
              <a:t>수도권</a:t>
            </a:r>
          </a:p>
          <a:p>
            <a:pPr algn="ctr">
              <a:lnSpc>
                <a:spcPct val="120000"/>
              </a:lnSpc>
            </a:pPr>
            <a:r>
              <a:rPr sz="900" b="0" i="0" spc="-40">
                <a:solidFill>
                  <a:srgbClr val="FFFFFF"/>
                </a:solidFill>
                <a:latin typeface="맑은 고딕"/>
                <a:ea typeface="맑은 고딕"/>
              </a:rPr>
              <a:t>70.3%</a:t>
            </a:r>
          </a:p>
        </p:txBody>
      </p:sp>
      <p:sp>
        <p:nvSpPr>
          <p:cNvPr id="27" name="Merge 26"/>
          <p:cNvSpPr/>
          <p:nvPr/>
        </p:nvSpPr>
        <p:spPr>
          <a:xfrm>
            <a:off x="4257675" y="5857875"/>
            <a:ext cx="381000" cy="114300"/>
          </a:xfrm>
          <a:prstGeom prst="flowChartMerge">
            <a:avLst/>
          </a:prstGeom>
          <a:solidFill>
            <a:srgbClr val="1F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500" y="6019800"/>
            <a:ext cx="6477000" cy="400050"/>
          </a:xfrm>
          <a:prstGeom prst="rect">
            <a:avLst/>
          </a:prstGeom>
          <a:gradFill rotWithShape="1">
            <a:gsLst>
              <a:gs pos="0">
                <a:srgbClr val="1F4E8C"/>
              </a:gs>
              <a:gs pos="100000">
                <a:srgbClr val="0B2A5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9050" tIns="0" rIns="19050" bIns="0"/>
          <a:lstStyle/>
          <a:p>
            <a:pPr algn="ctr"/>
            <a:r>
              <a:rPr sz="1100" b="0" i="0" spc="-40">
                <a:solidFill>
                  <a:srgbClr val="FFFFFF"/>
                </a:solidFill>
                <a:latin typeface="맑은 고딕"/>
                <a:ea typeface="맑은 고딕"/>
              </a:rPr>
              <a:t>신입생 충원은 매우 우수하나, 재학생 충원율은 전국 평균보다 다소 낮고 중도탈락률은 전국 평균보다 낮은편임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750" y="6696075"/>
            <a:ext cx="8572500" cy="152400"/>
          </a:xfrm>
          <a:prstGeom prst="rect">
            <a:avLst/>
          </a:prstGeom>
          <a:noFill/>
        </p:spPr>
        <p:txBody>
          <a:bodyPr wrap="square" lIns="19050" tIns="0" rIns="0" bIns="0" anchor="ctr"/>
          <a:lstStyle/>
          <a:p>
            <a:pPr algn="l"/>
            <a:r>
              <a:rPr sz="650" b="0" i="0" spc="-40">
                <a:solidFill>
                  <a:srgbClr val="7F7F7F"/>
                </a:solidFill>
                <a:latin typeface="맑은 고딕"/>
                <a:ea typeface="맑은 고딕"/>
              </a:rPr>
              <a:t>Source : 대학알리미 (2024)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